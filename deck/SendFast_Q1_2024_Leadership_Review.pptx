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review covers one quarter of transfers. The short version: our customers are loyal, but each transfer is carrying less money, and very few new signups go on to send. We'll end with three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slide, this is it. Retention is healthy. Value is falling because transfers are getting smaller, not because we're losing people. And the new-signup funnel is where we're leaving growth on the table. The 6.4% is for people who signed up December to February, so everyone had at least 30 days to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starts on 31 December, so December is a single day and is left out of every monthly comparison. Monthly senders were 12,405 in January, 12,285 in February and 12,246 in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good news, and it's consistent: both full-month transitions land at 79%. December is left out because the data holds only one day of it. Going forward, we'd like to track this by signup cohort. Keep this in mind for the next slide: customers are staying, so the fall in value is not about losing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left to right. The dark circles for senders and transfers barely change: about 12,300 people and 54,000 transfers a month. The orange value circles shrink, from CA$21.9M in January to CA$18.8M in March, down 14.3%. Most of the drop came in February. So the same people are sending just as often, but each transfer carries less: the average transfer fell from CA$397 to CA$343. The next slide shows the most likely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of people sending CAD to NGN held at about 10,100 a month, and the number of transfers held at about 46,000. What changed is the average amount: down 13%. Over the same months the naira weakened by roughly 13 to 18 percent against the Canadian dollar. The most likely story is that families at home need the same amount in naira, which now costs fewer Canadian dollars. We'd want a longer history before treating this as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valuable flow we have, and it's a different product from everyday remittances. 4,599 people used it this quarter. Shares here are of remittances only, so account debits within the same currency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 to NGN is many small, frequent transfers: gifts, personal support, goods and services. NGN to CAD is fewer, much larger transfers, and the largest share is school fees. 1,826 people send in both directions. Losing a small number of top customers would hurt: the top 1% alone, 164 people, send 12% of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new signups only. The users table covers people who joined December to March, not our existing customers. Two leaks stand out. First, six in ten signups never begin KYC at all. Second, even people who pass KYC mostly don't send: 1,034 of 3,477. Twelve users sent money without passing KYC; that's a small number, but compliance should look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overall comparison makes referral look like a 4× lift, but most referred signups are Canadian, and Canadians convert better anyway. Compared within each country, referral still clearly helps: 1.7 times in Canada and 5.6 times in Nigeria, and the gaps are well outside the margin of error. The lift happens at KYC: referred Nigerians start it at 76% and pass it at 56%, against 28.5% and 12% for other Nigerians. After their first transfer, referred and non-referred senders behave the same: about 7 in 10 send again within 30 days. There are 307 referred Nigerians in this cohort, and referred people may already be more motivated, so we'd confirm this with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Actions 1 and 2 work together. Most Nigerian signups never begin KYC, and referral is the one thing in the data that clearly gets them through it. Paying the referral reward only once the invitee passes KYC and makes a first transfer ties the reward to what matters, and lets us test whether the referral itself causes the lift. Before scaling, we should check why referrals fell to 3.8% of signups in March. Action 3 protects nearly half our value. 40% of NGN to CAD transfers are school-related, so marketing can build lifecycle campaigns aimed at those senders; the specifics are theirs to design. The top 10% of customers send 51% of all value, so they deserve personal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change the three headline findings, but they set the limits on how far we can take them. The signup data is a slice of this quarter's signups, so the funnel and referral results describe new customers, while corridor, value and retention results cover everyone who sent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292B"/>
        </a:solidFill>
      </p:bgPr>
    </p:bg>
    <p:spTree>
      <p:nvGrpSpPr>
        <p:cNvPr id="1" name=""/>
        <p:cNvGrpSpPr/>
        <p:nvPr/>
      </p:nvGrpSpPr>
      <p:grpSpPr>
        <a:xfrm>
          <a:off x="0" y="0"/>
          <a:ext cx="0" cy="0"/>
          <a:chOff x="0" y="0"/>
          <a:chExt cx="0" cy="0"/>
        </a:xfrm>
      </p:grpSpPr>
      <p:pic>
        <p:nvPicPr>
          <p:cNvPr id="2" name="Image 0" descr="SendFast logo">    </p:cNvPr>
          <p:cNvPicPr>
            <a:picLocks noChangeAspect="1"/>
          </p:cNvPicPr>
          <p:nvPr/>
        </p:nvPicPr>
        <p:blipFill>
          <a:blip r:embed="rId1"/>
          <a:srcRect l="0" r="0" t="-34" b="-34"/>
          <a:stretch/>
        </p:blipFill>
        <p:spPr>
          <a:xfrm>
            <a:off x="812800" y="812800"/>
            <a:ext cx="2768600" cy="406400"/>
          </a:xfrm>
          <a:prstGeom prst="rect">
            <a:avLst/>
          </a:prstGeom>
        </p:spPr>
      </p:pic>
      <p:sp>
        <p:nvSpPr>
          <p:cNvPr id="3" name="Text 0"/>
          <p:cNvSpPr/>
          <p:nvPr/>
        </p:nvSpPr>
        <p:spPr>
          <a:xfrm>
            <a:off x="812800" y="1835200"/>
            <a:ext cx="10203180" cy="24257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7F6F2"/>
                </a:solidFill>
                <a:latin typeface="Space Grotesk" pitchFamily="34" charset="0"/>
                <a:ea typeface="Space Grotesk" pitchFamily="34" charset="-122"/>
                <a:cs typeface="Space Grotesk" pitchFamily="34" charset="-120"/>
              </a:rPr>
              <a:t>Loyal customers, smaller transfers, and a signup leak</a:t>
            </a:r>
            <a:endParaRPr lang="en-US" sz="6000" dirty="0"/>
          </a:p>
        </p:txBody>
      </p:sp>
      <p:sp>
        <p:nvSpPr>
          <p:cNvPr id="4" name="Text 1"/>
          <p:cNvSpPr/>
          <p:nvPr/>
        </p:nvSpPr>
        <p:spPr>
          <a:xfrm>
            <a:off x="812800" y="4489500"/>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CCD0"/>
                </a:solidFill>
                <a:latin typeface="IBM Plex Sans" pitchFamily="34" charset="0"/>
                <a:ea typeface="IBM Plex Sans" pitchFamily="34" charset="-122"/>
                <a:cs typeface="IBM Plex Sans" pitchFamily="34" charset="-120"/>
              </a:rPr>
              <a:t>What 164,882 transfers from 31 Dec 2023 to 31 Mar 2024 tell us, and three things to do next</a:t>
            </a:r>
            <a:endParaRPr lang="en-US" sz="2200" dirty="0"/>
          </a:p>
        </p:txBody>
      </p:sp>
      <p:sp>
        <p:nvSpPr>
          <p:cNvPr id="5" name="Text 2"/>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B921"/>
                </a:solidFill>
                <a:latin typeface="IBM Plex Sans" pitchFamily="34" charset="0"/>
                <a:ea typeface="IBM Plex Sans" pitchFamily="34" charset="-122"/>
                <a:cs typeface="IBM Plex Sans" pitchFamily="34" charset="-120"/>
              </a:rPr>
              <a:t>Leadership review · Q1 2024</a:t>
            </a:r>
            <a:r>
              <a:rPr lang="en-US" sz="1200" dirty="0">
                <a:solidFill>
                  <a:srgbClr val="C9CCD0"/>
                </a:solidFill>
                <a:latin typeface="IBM Plex Sans" pitchFamily="34" charset="0"/>
                <a:ea typeface="IBM Plex Sans" pitchFamily="34" charset="-122"/>
                <a:cs typeface="IBM Plex Sans" pitchFamily="34" charset="-120"/>
              </a:rPr>
              <a:t> · Data: SendFast transactions table and new-signup users table</a:t>
            </a:r>
            <a:endParaRPr lang="en-US" sz="1200" dirty="0"/>
          </a:p>
        </p:txBody>
      </p:sp>
      <p:sp>
        <p:nvSpPr>
          <p:cNvPr id="6" name="Author"/>
          <p:cNvSpPr/>
          <p:nvPr/>
        </p:nvSpPr>
        <p:spPr>
          <a:xfrm>
            <a:off x="812800" y="5492750"/>
            <a:ext cx="10883392" cy="285750"/>
          </a:xfrm>
          <a:prstGeom prst="rect">
            <a:avLst/>
          </a:prstGeom>
          <a:noFill/>
          <a:ln/>
        </p:spPr>
        <p:txBody>
          <a:bodyPr wrap="square" lIns="0" tIns="0" rIns="0" bIns="0" rtlCol="0" anchor="t">
            <a:normAutofit/>
          </a:bodyPr>
          <a:lstStyle/>
          <a:p>
            <a:pPr algn="l" indent="0" marL="0">
              <a:buNone/>
            </a:pPr>
            <a:r>
              <a:rPr lang="en-US" sz="1600" b="1" dirty="0">
                <a:solidFill>
                  <a:srgbClr val="F7F6F2"/>
                </a:solidFill>
                <a:latin typeface="IBM Plex Sans" pitchFamily="34" charset="0"/>
                <a:ea typeface="IBM Plex Sans" pitchFamily="34" charset="-122"/>
                <a:cs typeface="IBM Plex Sans" pitchFamily="34" charset="-120"/>
              </a:rPr>
              <a:t>Prepared by Frank Azi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8292B"/>
                </a:solidFill>
                <a:latin typeface="Space Grotesk" pitchFamily="34" charset="0"/>
                <a:ea typeface="Space Grotesk" pitchFamily="34" charset="-122"/>
                <a:cs typeface="Space Grotesk" pitchFamily="34" charset="-120"/>
              </a:rPr>
              <a:t>Three things to know</a:t>
            </a:r>
            <a:endParaRPr lang="en-US" sz="3600" dirty="0"/>
          </a:p>
        </p:txBody>
      </p:sp>
      <p:sp>
        <p:nvSpPr>
          <p:cNvPr id="3" name="Shape 1"/>
          <p:cNvSpPr/>
          <p:nvPr/>
        </p:nvSpPr>
        <p:spPr>
          <a:xfrm>
            <a:off x="815975" y="1623665"/>
            <a:ext cx="3380284" cy="3038971"/>
          </a:xfrm>
          <a:prstGeom prst="roundRect">
            <a:avLst>
              <a:gd name="adj" fmla="val 3239"/>
            </a:avLst>
          </a:prstGeom>
          <a:solidFill>
            <a:srgbClr val="FFFDF8"/>
          </a:solidFill>
          <a:ln w="6350">
            <a:solidFill>
              <a:srgbClr val="DEDAD0"/>
            </a:solidFill>
            <a:prstDash val="solid"/>
          </a:ln>
        </p:spPr>
      </p:sp>
      <p:sp>
        <p:nvSpPr>
          <p:cNvPr id="4" name="Text 2"/>
          <p:cNvSpPr/>
          <p:nvPr/>
        </p:nvSpPr>
        <p:spPr>
          <a:xfrm>
            <a:off x="1123950" y="1931640"/>
            <a:ext cx="2847264"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434C54"/>
                </a:solidFill>
                <a:latin typeface="Space Grotesk" pitchFamily="34" charset="0"/>
                <a:ea typeface="Space Grotesk" pitchFamily="34" charset="-122"/>
                <a:cs typeface="Space Grotesk" pitchFamily="34" charset="-120"/>
              </a:rPr>
              <a:t>79%</a:t>
            </a:r>
            <a:endParaRPr lang="en-US" sz="6000" dirty="0"/>
          </a:p>
        </p:txBody>
      </p:sp>
      <p:sp>
        <p:nvSpPr>
          <p:cNvPr id="5" name="Text 3"/>
          <p:cNvSpPr/>
          <p:nvPr/>
        </p:nvSpPr>
        <p:spPr>
          <a:xfrm>
            <a:off x="1123950" y="2871440"/>
            <a:ext cx="2847264"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8292B"/>
                </a:solidFill>
                <a:latin typeface="IBM Plex Sans" pitchFamily="34" charset="0"/>
                <a:ea typeface="IBM Plex Sans" pitchFamily="34" charset="-122"/>
                <a:cs typeface="IBM Plex Sans" pitchFamily="34" charset="-120"/>
              </a:rPr>
              <a:t>of senders come back the next month</a:t>
            </a:r>
            <a:endParaRPr lang="en-US" sz="1600" dirty="0"/>
          </a:p>
        </p:txBody>
      </p:sp>
      <p:sp>
        <p:nvSpPr>
          <p:cNvPr id="6" name="Text 4"/>
          <p:cNvSpPr/>
          <p:nvPr/>
        </p:nvSpPr>
        <p:spPr>
          <a:xfrm>
            <a:off x="1123950" y="3501281"/>
            <a:ext cx="284726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C54"/>
                </a:solidFill>
                <a:latin typeface="IBM Plex Sans" pitchFamily="34" charset="0"/>
                <a:ea typeface="IBM Plex Sans" pitchFamily="34" charset="-122"/>
                <a:cs typeface="IBM Plex Sans" pitchFamily="34" charset="-120"/>
              </a:rPr>
              <a:t>About 12,300 people send each month. The base is stable.</a:t>
            </a:r>
            <a:endParaRPr lang="en-US" sz="1600" dirty="0"/>
          </a:p>
        </p:txBody>
      </p:sp>
      <p:sp>
        <p:nvSpPr>
          <p:cNvPr id="7" name="Shape 5"/>
          <p:cNvSpPr/>
          <p:nvPr/>
        </p:nvSpPr>
        <p:spPr>
          <a:xfrm>
            <a:off x="4405809" y="1623665"/>
            <a:ext cx="3380333" cy="3038971"/>
          </a:xfrm>
          <a:prstGeom prst="roundRect">
            <a:avLst>
              <a:gd name="adj" fmla="val 3239"/>
            </a:avLst>
          </a:prstGeom>
          <a:solidFill>
            <a:srgbClr val="FFFDF8"/>
          </a:solidFill>
          <a:ln w="6350">
            <a:solidFill>
              <a:srgbClr val="DEDAD0"/>
            </a:solidFill>
            <a:prstDash val="solid"/>
          </a:ln>
        </p:spPr>
      </p:sp>
      <p:sp>
        <p:nvSpPr>
          <p:cNvPr id="8" name="Text 6"/>
          <p:cNvSpPr/>
          <p:nvPr/>
        </p:nvSpPr>
        <p:spPr>
          <a:xfrm>
            <a:off x="4713784" y="1931640"/>
            <a:ext cx="284731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B8471A"/>
                </a:solidFill>
                <a:latin typeface="Space Grotesk" pitchFamily="34" charset="0"/>
                <a:ea typeface="Space Grotesk" pitchFamily="34" charset="-122"/>
                <a:cs typeface="Space Grotesk" pitchFamily="34" charset="-120"/>
              </a:rPr>
              <a:t>−14%</a:t>
            </a:r>
            <a:endParaRPr lang="en-US" sz="6000" dirty="0"/>
          </a:p>
        </p:txBody>
      </p:sp>
      <p:sp>
        <p:nvSpPr>
          <p:cNvPr id="9" name="Text 7"/>
          <p:cNvSpPr/>
          <p:nvPr/>
        </p:nvSpPr>
        <p:spPr>
          <a:xfrm>
            <a:off x="4713784" y="2871440"/>
            <a:ext cx="2847315"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8292B"/>
                </a:solidFill>
                <a:latin typeface="IBM Plex Sans" pitchFamily="34" charset="0"/>
                <a:ea typeface="IBM Plex Sans" pitchFamily="34" charset="-122"/>
                <a:cs typeface="IBM Plex Sans" pitchFamily="34" charset="-120"/>
              </a:rPr>
              <a:t>monthly value, January to March</a:t>
            </a:r>
            <a:endParaRPr lang="en-US" sz="1600" dirty="0"/>
          </a:p>
        </p:txBody>
      </p:sp>
      <p:sp>
        <p:nvSpPr>
          <p:cNvPr id="10" name="Text 8"/>
          <p:cNvSpPr/>
          <p:nvPr/>
        </p:nvSpPr>
        <p:spPr>
          <a:xfrm>
            <a:off x="4713784" y="3501281"/>
            <a:ext cx="284731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C54"/>
                </a:solidFill>
                <a:latin typeface="IBM Plex Sans" pitchFamily="34" charset="0"/>
                <a:ea typeface="IBM Plex Sans" pitchFamily="34" charset="-122"/>
                <a:cs typeface="IBM Plex Sans" pitchFamily="34" charset="-120"/>
              </a:rPr>
              <a:t>Same senders, same transfer count, smaller transfers.</a:t>
            </a:r>
            <a:endParaRPr lang="en-US" sz="1600" dirty="0"/>
          </a:p>
        </p:txBody>
      </p:sp>
      <p:sp>
        <p:nvSpPr>
          <p:cNvPr id="11" name="Shape 9"/>
          <p:cNvSpPr/>
          <p:nvPr/>
        </p:nvSpPr>
        <p:spPr>
          <a:xfrm>
            <a:off x="7995692" y="1623665"/>
            <a:ext cx="3380333" cy="3038971"/>
          </a:xfrm>
          <a:prstGeom prst="roundRect">
            <a:avLst>
              <a:gd name="adj" fmla="val 3239"/>
            </a:avLst>
          </a:prstGeom>
          <a:solidFill>
            <a:srgbClr val="FFFDF8"/>
          </a:solidFill>
          <a:ln w="6350">
            <a:solidFill>
              <a:srgbClr val="DEDAD0"/>
            </a:solidFill>
            <a:prstDash val="solid"/>
          </a:ln>
        </p:spPr>
      </p:sp>
      <p:sp>
        <p:nvSpPr>
          <p:cNvPr id="12" name="Text 10"/>
          <p:cNvSpPr/>
          <p:nvPr/>
        </p:nvSpPr>
        <p:spPr>
          <a:xfrm>
            <a:off x="8303667" y="1931640"/>
            <a:ext cx="284731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B8471A"/>
                </a:solidFill>
                <a:latin typeface="Space Grotesk" pitchFamily="34" charset="0"/>
                <a:ea typeface="Space Grotesk" pitchFamily="34" charset="-122"/>
                <a:cs typeface="Space Grotesk" pitchFamily="34" charset="-120"/>
              </a:rPr>
              <a:t>6.4%</a:t>
            </a:r>
            <a:endParaRPr lang="en-US" sz="6000" dirty="0"/>
          </a:p>
        </p:txBody>
      </p:sp>
      <p:sp>
        <p:nvSpPr>
          <p:cNvPr id="13" name="Text 11"/>
          <p:cNvSpPr/>
          <p:nvPr/>
        </p:nvSpPr>
        <p:spPr>
          <a:xfrm>
            <a:off x="8303667" y="2871440"/>
            <a:ext cx="2847315"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8292B"/>
                </a:solidFill>
                <a:latin typeface="IBM Plex Sans" pitchFamily="34" charset="0"/>
                <a:ea typeface="IBM Plex Sans" pitchFamily="34" charset="-122"/>
                <a:cs typeface="IBM Plex Sans" pitchFamily="34" charset="-120"/>
              </a:rPr>
              <a:t>of new signups ever send money</a:t>
            </a:r>
            <a:endParaRPr lang="en-US" sz="1600" dirty="0"/>
          </a:p>
        </p:txBody>
      </p:sp>
      <p:sp>
        <p:nvSpPr>
          <p:cNvPr id="14" name="Text 12"/>
          <p:cNvSpPr/>
          <p:nvPr/>
        </p:nvSpPr>
        <p:spPr>
          <a:xfrm>
            <a:off x="8303667" y="3501281"/>
            <a:ext cx="284731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C54"/>
                </a:solidFill>
                <a:latin typeface="IBM Plex Sans" pitchFamily="34" charset="0"/>
                <a:ea typeface="IBM Plex Sans" pitchFamily="34" charset="-122"/>
                <a:cs typeface="IBM Plex Sans" pitchFamily="34" charset="-120"/>
              </a:rPr>
              <a:t>60% never start KYC.</a:t>
            </a:r>
            <a:endParaRPr lang="en-US" sz="1600" dirty="0"/>
          </a:p>
        </p:txBody>
      </p:sp>
      <p:sp>
        <p:nvSpPr>
          <p:cNvPr id="15" name="Text 13"/>
          <p:cNvSpPr/>
          <p:nvPr/>
        </p:nvSpPr>
        <p:spPr>
          <a:xfrm>
            <a:off x="812800" y="49706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We recommend:</a:t>
            </a:r>
            <a:r>
              <a:rPr lang="en-US" sz="1600" dirty="0">
                <a:solidFill>
                  <a:srgbClr val="28292B"/>
                </a:solidFill>
                <a:latin typeface="IBM Plex Sans" pitchFamily="34" charset="0"/>
                <a:ea typeface="IBM Plex Sans" pitchFamily="34" charset="-122"/>
                <a:cs typeface="IBM Plex Sans" pitchFamily="34" charset="-120"/>
              </a:rPr>
              <a:t> get Nigerian signups into KYC, use referrals to do it, and protect NGN→CAD tuition payments.</a:t>
            </a:r>
            <a:endParaRPr lang="en-US" sz="16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SendFast Q1 2024 · Leadership review</a:t>
            </a:r>
            <a:endParaRPr lang="en-US" sz="1200" dirty="0"/>
          </a:p>
        </p:txBody>
      </p:sp>
      <p:pic>
        <p:nvPicPr>
          <p:cNvPr id="17" name="Image 0" descr="SendFast logo">    </p:cNvPr>
          <p:cNvPicPr>
            <a:picLocks noChangeAspect="1"/>
          </p:cNvPicPr>
          <p:nvPr/>
        </p:nvPicPr>
        <p:blipFill>
          <a:blip r:embed="rId1"/>
          <a:srcRect l="0" r="0" t="-34" b="-34"/>
          <a:stretch/>
        </p:blipFill>
        <p:spPr>
          <a:xfrm>
            <a:off x="9334500" y="6273800"/>
            <a:ext cx="1384300" cy="203200"/>
          </a:xfrm>
          <a:prstGeom prst="rect">
            <a:avLst/>
          </a:prstGeom>
        </p:spPr>
      </p:pic>
      <p:sp>
        <p:nvSpPr>
          <p:cNvPr id="18" name="Text 15"/>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8292B"/>
                </a:solidFill>
                <a:latin typeface="Space Grotesk" pitchFamily="34" charset="0"/>
                <a:ea typeface="Space Grotesk" pitchFamily="34" charset="-122"/>
                <a:cs typeface="Space Grotesk" pitchFamily="34" charset="-120"/>
              </a:rPr>
              <a:t>Q1 at a glance</a:t>
            </a:r>
            <a:endParaRPr lang="en-US" sz="3600" dirty="0"/>
          </a:p>
        </p:txBody>
      </p:sp>
      <p:sp>
        <p:nvSpPr>
          <p:cNvPr id="3" name="Shape 1"/>
          <p:cNvSpPr/>
          <p:nvPr/>
        </p:nvSpPr>
        <p:spPr>
          <a:xfrm>
            <a:off x="815975" y="1623665"/>
            <a:ext cx="5175250" cy="1713210"/>
          </a:xfrm>
          <a:prstGeom prst="roundRect">
            <a:avLst>
              <a:gd name="adj" fmla="val 5745"/>
            </a:avLst>
          </a:prstGeom>
          <a:solidFill>
            <a:srgbClr val="FFFDF8"/>
          </a:solidFill>
          <a:ln w="6350">
            <a:solidFill>
              <a:srgbClr val="DEDAD0"/>
            </a:solidFill>
            <a:prstDash val="solid"/>
          </a:ln>
        </p:spPr>
      </p:sp>
      <p:sp>
        <p:nvSpPr>
          <p:cNvPr id="4" name="Text 2"/>
          <p:cNvSpPr/>
          <p:nvPr/>
        </p:nvSpPr>
        <p:spPr>
          <a:xfrm>
            <a:off x="1073150" y="1880840"/>
            <a:ext cx="480072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8292B"/>
                </a:solidFill>
                <a:latin typeface="Space Grotesk" pitchFamily="34" charset="0"/>
                <a:ea typeface="Space Grotesk" pitchFamily="34" charset="-122"/>
                <a:cs typeface="Space Grotesk" pitchFamily="34" charset="-120"/>
              </a:rPr>
              <a:t>CA$60.5M</a:t>
            </a:r>
            <a:endParaRPr lang="en-US" sz="6000" dirty="0"/>
          </a:p>
        </p:txBody>
      </p:sp>
      <p:sp>
        <p:nvSpPr>
          <p:cNvPr id="5" name="Text 3"/>
          <p:cNvSpPr/>
          <p:nvPr/>
        </p:nvSpPr>
        <p:spPr>
          <a:xfrm>
            <a:off x="1073150" y="2795240"/>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C54"/>
                </a:solidFill>
                <a:latin typeface="IBM Plex Sans" pitchFamily="34" charset="0"/>
                <a:ea typeface="IBM Plex Sans" pitchFamily="34" charset="-122"/>
                <a:cs typeface="IBM Plex Sans" pitchFamily="34" charset="-120"/>
              </a:rPr>
              <a:t>moved across all transfers</a:t>
            </a:r>
            <a:endParaRPr lang="en-US" sz="1600" dirty="0"/>
          </a:p>
        </p:txBody>
      </p:sp>
      <p:sp>
        <p:nvSpPr>
          <p:cNvPr id="6" name="Shape 4"/>
          <p:cNvSpPr/>
          <p:nvPr/>
        </p:nvSpPr>
        <p:spPr>
          <a:xfrm>
            <a:off x="6200775" y="1623665"/>
            <a:ext cx="5175250" cy="1713210"/>
          </a:xfrm>
          <a:prstGeom prst="roundRect">
            <a:avLst>
              <a:gd name="adj" fmla="val 5745"/>
            </a:avLst>
          </a:prstGeom>
          <a:solidFill>
            <a:srgbClr val="FFFDF8"/>
          </a:solidFill>
          <a:ln w="6350">
            <a:solidFill>
              <a:srgbClr val="DEDAD0"/>
            </a:solidFill>
            <a:prstDash val="solid"/>
          </a:ln>
        </p:spPr>
      </p:sp>
      <p:sp>
        <p:nvSpPr>
          <p:cNvPr id="7" name="Text 5"/>
          <p:cNvSpPr/>
          <p:nvPr/>
        </p:nvSpPr>
        <p:spPr>
          <a:xfrm>
            <a:off x="6457950" y="1880840"/>
            <a:ext cx="480072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8292B"/>
                </a:solidFill>
                <a:latin typeface="Space Grotesk" pitchFamily="34" charset="0"/>
                <a:ea typeface="Space Grotesk" pitchFamily="34" charset="-122"/>
                <a:cs typeface="Space Grotesk" pitchFamily="34" charset="-120"/>
              </a:rPr>
              <a:t>164,882</a:t>
            </a:r>
            <a:endParaRPr lang="en-US" sz="6000" dirty="0"/>
          </a:p>
        </p:txBody>
      </p:sp>
      <p:sp>
        <p:nvSpPr>
          <p:cNvPr id="8" name="Text 6"/>
          <p:cNvSpPr/>
          <p:nvPr/>
        </p:nvSpPr>
        <p:spPr>
          <a:xfrm>
            <a:off x="6457950" y="2795240"/>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C54"/>
                </a:solidFill>
                <a:latin typeface="IBM Plex Sans" pitchFamily="34" charset="0"/>
                <a:ea typeface="IBM Plex Sans" pitchFamily="34" charset="-122"/>
                <a:cs typeface="IBM Plex Sans" pitchFamily="34" charset="-120"/>
              </a:rPr>
              <a:t>transfers</a:t>
            </a:r>
            <a:endParaRPr lang="en-US" sz="1600" dirty="0"/>
          </a:p>
        </p:txBody>
      </p:sp>
      <p:sp>
        <p:nvSpPr>
          <p:cNvPr id="9" name="Shape 7"/>
          <p:cNvSpPr/>
          <p:nvPr/>
        </p:nvSpPr>
        <p:spPr>
          <a:xfrm>
            <a:off x="815975" y="3546425"/>
            <a:ext cx="5175250" cy="1713210"/>
          </a:xfrm>
          <a:prstGeom prst="roundRect">
            <a:avLst>
              <a:gd name="adj" fmla="val 5745"/>
            </a:avLst>
          </a:prstGeom>
          <a:solidFill>
            <a:srgbClr val="FFFDF8"/>
          </a:solidFill>
          <a:ln w="6350">
            <a:solidFill>
              <a:srgbClr val="DEDAD0"/>
            </a:solidFill>
            <a:prstDash val="solid"/>
          </a:ln>
        </p:spPr>
      </p:sp>
      <p:sp>
        <p:nvSpPr>
          <p:cNvPr id="10" name="Text 8"/>
          <p:cNvSpPr/>
          <p:nvPr/>
        </p:nvSpPr>
        <p:spPr>
          <a:xfrm>
            <a:off x="1073150" y="3803600"/>
            <a:ext cx="480072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8292B"/>
                </a:solidFill>
                <a:latin typeface="Space Grotesk" pitchFamily="34" charset="0"/>
                <a:ea typeface="Space Grotesk" pitchFamily="34" charset="-122"/>
                <a:cs typeface="Space Grotesk" pitchFamily="34" charset="-120"/>
              </a:rPr>
              <a:t>12,300</a:t>
            </a:r>
            <a:endParaRPr lang="en-US" sz="6000" dirty="0"/>
          </a:p>
        </p:txBody>
      </p:sp>
      <p:sp>
        <p:nvSpPr>
          <p:cNvPr id="11" name="Text 9"/>
          <p:cNvSpPr/>
          <p:nvPr/>
        </p:nvSpPr>
        <p:spPr>
          <a:xfrm>
            <a:off x="1073150" y="4718000"/>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C54"/>
                </a:solidFill>
                <a:latin typeface="IBM Plex Sans" pitchFamily="34" charset="0"/>
                <a:ea typeface="IBM Plex Sans" pitchFamily="34" charset="-122"/>
                <a:cs typeface="IBM Plex Sans" pitchFamily="34" charset="-120"/>
              </a:rPr>
              <a:t>people sending in an average month</a:t>
            </a:r>
            <a:endParaRPr lang="en-US" sz="1600" dirty="0"/>
          </a:p>
        </p:txBody>
      </p:sp>
      <p:sp>
        <p:nvSpPr>
          <p:cNvPr id="12" name="Shape 10"/>
          <p:cNvSpPr/>
          <p:nvPr/>
        </p:nvSpPr>
        <p:spPr>
          <a:xfrm>
            <a:off x="6200775" y="3546425"/>
            <a:ext cx="5175250" cy="1713210"/>
          </a:xfrm>
          <a:prstGeom prst="roundRect">
            <a:avLst>
              <a:gd name="adj" fmla="val 5745"/>
            </a:avLst>
          </a:prstGeom>
          <a:solidFill>
            <a:srgbClr val="FFFDF8"/>
          </a:solidFill>
          <a:ln w="6350">
            <a:solidFill>
              <a:srgbClr val="DEDAD0"/>
            </a:solidFill>
            <a:prstDash val="solid"/>
          </a:ln>
        </p:spPr>
      </p:sp>
      <p:sp>
        <p:nvSpPr>
          <p:cNvPr id="13" name="Text 11"/>
          <p:cNvSpPr/>
          <p:nvPr/>
        </p:nvSpPr>
        <p:spPr>
          <a:xfrm>
            <a:off x="6457950" y="3803600"/>
            <a:ext cx="480072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8292B"/>
                </a:solidFill>
                <a:latin typeface="Space Grotesk" pitchFamily="34" charset="0"/>
                <a:ea typeface="Space Grotesk" pitchFamily="34" charset="-122"/>
                <a:cs typeface="Space Grotesk" pitchFamily="34" charset="-120"/>
              </a:rPr>
              <a:t>16,444</a:t>
            </a:r>
            <a:endParaRPr lang="en-US" sz="6000" dirty="0"/>
          </a:p>
        </p:txBody>
      </p:sp>
      <p:sp>
        <p:nvSpPr>
          <p:cNvPr id="14" name="Text 12"/>
          <p:cNvSpPr/>
          <p:nvPr/>
        </p:nvSpPr>
        <p:spPr>
          <a:xfrm>
            <a:off x="6457950" y="4718000"/>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C54"/>
                </a:solidFill>
                <a:latin typeface="IBM Plex Sans" pitchFamily="34" charset="0"/>
                <a:ea typeface="IBM Plex Sans" pitchFamily="34" charset="-122"/>
                <a:cs typeface="IBM Plex Sans" pitchFamily="34" charset="-120"/>
              </a:rPr>
              <a:t>people sent at least once</a:t>
            </a:r>
            <a:endParaRPr lang="en-US" sz="16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Totals cover 31 Dec 2023 – 31 Mar 2024. Monthly figures use January–March only.</a:t>
            </a:r>
            <a:endParaRPr lang="en-US" sz="1200" dirty="0"/>
          </a:p>
        </p:txBody>
      </p:sp>
      <p:pic>
        <p:nvPicPr>
          <p:cNvPr id="16" name="Image 0" descr="SendFast logo">    </p:cNvPr>
          <p:cNvPicPr>
            <a:picLocks noChangeAspect="1"/>
          </p:cNvPicPr>
          <p:nvPr/>
        </p:nvPicPr>
        <p:blipFill>
          <a:blip r:embed="rId1"/>
          <a:srcRect l="0" r="0" t="-34" b="-34"/>
          <a:stretch/>
        </p:blipFill>
        <p:spPr>
          <a:xfrm>
            <a:off x="9334500" y="6273800"/>
            <a:ext cx="1384300" cy="203200"/>
          </a:xfrm>
          <a:prstGeom prst="rect">
            <a:avLst/>
          </a:prstGeom>
        </p:spPr>
      </p:pic>
      <p:sp>
        <p:nvSpPr>
          <p:cNvPr id="17" name="Text 14"/>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8292B"/>
                </a:solidFill>
                <a:latin typeface="Space Grotesk" pitchFamily="34" charset="0"/>
                <a:ea typeface="Space Grotesk" pitchFamily="34" charset="-122"/>
                <a:cs typeface="Space Grotesk" pitchFamily="34" charset="-120"/>
              </a:rPr>
              <a:t>Customers keep coming back</a:t>
            </a:r>
            <a:endParaRPr lang="en-US" sz="3600" dirty="0"/>
          </a:p>
        </p:txBody>
      </p:sp>
      <p:sp>
        <p:nvSpPr>
          <p:cNvPr id="3" name="Shape 1"/>
          <p:cNvSpPr/>
          <p:nvPr/>
        </p:nvSpPr>
        <p:spPr>
          <a:xfrm>
            <a:off x="815975" y="1623665"/>
            <a:ext cx="5175250" cy="2398911"/>
          </a:xfrm>
          <a:prstGeom prst="roundRect">
            <a:avLst>
              <a:gd name="adj" fmla="val 4103"/>
            </a:avLst>
          </a:prstGeom>
          <a:solidFill>
            <a:srgbClr val="FFFDF8"/>
          </a:solidFill>
          <a:ln w="6350">
            <a:solidFill>
              <a:srgbClr val="DEDAD0"/>
            </a:solidFill>
            <a:prstDash val="solid"/>
          </a:ln>
        </p:spPr>
      </p:sp>
      <p:sp>
        <p:nvSpPr>
          <p:cNvPr id="4" name="Text 2"/>
          <p:cNvSpPr/>
          <p:nvPr/>
        </p:nvSpPr>
        <p:spPr>
          <a:xfrm>
            <a:off x="1123950" y="1931640"/>
            <a:ext cx="4696079"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434C54"/>
                </a:solidFill>
                <a:latin typeface="Space Grotesk" pitchFamily="34" charset="0"/>
                <a:ea typeface="Space Grotesk" pitchFamily="34" charset="-122"/>
                <a:cs typeface="Space Grotesk" pitchFamily="34" charset="-120"/>
              </a:rPr>
              <a:t>79%</a:t>
            </a:r>
            <a:endParaRPr lang="en-US" sz="6000" dirty="0"/>
          </a:p>
        </p:txBody>
      </p:sp>
      <p:sp>
        <p:nvSpPr>
          <p:cNvPr id="5" name="Text 3"/>
          <p:cNvSpPr/>
          <p:nvPr/>
        </p:nvSpPr>
        <p:spPr>
          <a:xfrm>
            <a:off x="1123950" y="2871440"/>
            <a:ext cx="4696079"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8292B"/>
                </a:solidFill>
                <a:latin typeface="IBM Plex Sans" pitchFamily="34" charset="0"/>
                <a:ea typeface="IBM Plex Sans" pitchFamily="34" charset="-122"/>
                <a:cs typeface="IBM Plex Sans" pitchFamily="34" charset="-120"/>
              </a:rPr>
              <a:t>of one month's senders send again the next month</a:t>
            </a:r>
            <a:endParaRPr lang="en-US" sz="1600" dirty="0"/>
          </a:p>
        </p:txBody>
      </p:sp>
      <p:sp>
        <p:nvSpPr>
          <p:cNvPr id="6" name="Text 4"/>
          <p:cNvSpPr/>
          <p:nvPr/>
        </p:nvSpPr>
        <p:spPr>
          <a:xfrm>
            <a:off x="1123950" y="3501281"/>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January → February 78.5% · February → March 78.9%</a:t>
            </a:r>
            <a:endParaRPr lang="en-US" sz="1200" dirty="0"/>
          </a:p>
        </p:txBody>
      </p:sp>
      <p:sp>
        <p:nvSpPr>
          <p:cNvPr id="7" name="Shape 5"/>
          <p:cNvSpPr/>
          <p:nvPr/>
        </p:nvSpPr>
        <p:spPr>
          <a:xfrm>
            <a:off x="6200775" y="1623665"/>
            <a:ext cx="5175250" cy="2398911"/>
          </a:xfrm>
          <a:prstGeom prst="roundRect">
            <a:avLst>
              <a:gd name="adj" fmla="val 4103"/>
            </a:avLst>
          </a:prstGeom>
          <a:solidFill>
            <a:srgbClr val="FFFDF8"/>
          </a:solidFill>
          <a:ln w="6350">
            <a:solidFill>
              <a:srgbClr val="DEDAD0"/>
            </a:solidFill>
            <a:prstDash val="solid"/>
          </a:ln>
        </p:spPr>
      </p:sp>
      <p:sp>
        <p:nvSpPr>
          <p:cNvPr id="8" name="Text 6"/>
          <p:cNvSpPr/>
          <p:nvPr/>
        </p:nvSpPr>
        <p:spPr>
          <a:xfrm>
            <a:off x="6508750" y="1931640"/>
            <a:ext cx="4696079"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434C54"/>
                </a:solidFill>
                <a:latin typeface="Space Grotesk" pitchFamily="34" charset="0"/>
                <a:ea typeface="Space Grotesk" pitchFamily="34" charset="-122"/>
                <a:cs typeface="Space Grotesk" pitchFamily="34" charset="-120"/>
              </a:rPr>
              <a:t>55%</a:t>
            </a:r>
            <a:endParaRPr lang="en-US" sz="6000" dirty="0"/>
          </a:p>
        </p:txBody>
      </p:sp>
      <p:sp>
        <p:nvSpPr>
          <p:cNvPr id="9" name="Text 7"/>
          <p:cNvSpPr/>
          <p:nvPr/>
        </p:nvSpPr>
        <p:spPr>
          <a:xfrm>
            <a:off x="6508750" y="2871440"/>
            <a:ext cx="469607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8292B"/>
                </a:solidFill>
                <a:latin typeface="IBM Plex Sans" pitchFamily="34" charset="0"/>
                <a:ea typeface="IBM Plex Sans" pitchFamily="34" charset="-122"/>
                <a:cs typeface="IBM Plex Sans" pitchFamily="34" charset="-120"/>
              </a:rPr>
              <a:t>send again the following week</a:t>
            </a:r>
            <a:endParaRPr lang="en-US" sz="1600" dirty="0"/>
          </a:p>
        </p:txBody>
      </p:sp>
      <p:sp>
        <p:nvSpPr>
          <p:cNvPr id="10" name="Text 8"/>
          <p:cNvSpPr/>
          <p:nvPr/>
        </p:nvSpPr>
        <p:spPr>
          <a:xfrm>
            <a:off x="6508750" y="3237161"/>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Average of 12 week-to-week comparisons</a:t>
            </a:r>
            <a:endParaRPr lang="en-US" sz="1200" dirty="0"/>
          </a:p>
        </p:txBody>
      </p:sp>
      <p:sp>
        <p:nvSpPr>
          <p:cNvPr id="11" name="Text 9"/>
          <p:cNvSpPr/>
          <p:nvPr/>
        </p:nvSpPr>
        <p:spPr>
          <a:xfrm>
            <a:off x="812800" y="4330551"/>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Weekly is lower because many people send once a month. Two full months is a short record, so we should keep tracking this.</a:t>
            </a:r>
            <a:endParaRPr lang="en-US" sz="16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Retained = sent in the month (or week) straight after one in which they sent.</a:t>
            </a:r>
            <a:endParaRPr lang="en-US" sz="1200" dirty="0"/>
          </a:p>
        </p:txBody>
      </p:sp>
      <p:pic>
        <p:nvPicPr>
          <p:cNvPr id="13" name="Image 0" descr="SendFast logo">    </p:cNvPr>
          <p:cNvPicPr>
            <a:picLocks noChangeAspect="1"/>
          </p:cNvPicPr>
          <p:nvPr/>
        </p:nvPicPr>
        <p:blipFill>
          <a:blip r:embed="rId1"/>
          <a:srcRect l="0" r="0" t="-34" b="-34"/>
          <a:stretch/>
        </p:blipFill>
        <p:spPr>
          <a:xfrm>
            <a:off x="9334500" y="6273800"/>
            <a:ext cx="1384300" cy="203200"/>
          </a:xfrm>
          <a:prstGeom prst="rect">
            <a:avLst/>
          </a:prstGeom>
        </p:spPr>
      </p:pic>
      <p:sp>
        <p:nvSpPr>
          <p:cNvPr id="14" name="Text 11"/>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Circle width = monthly figure, scaled per row. % = change on the previous month.</a:t>
            </a:r>
            <a:endParaRPr lang="en-US" sz="1200" dirty="0"/>
          </a:p>
        </p:txBody>
      </p:sp>
      <p:pic>
        <p:nvPicPr>
          <p:cNvPr id="3" name="Image 0" descr="SendFast logo">    </p:cNvPr>
          <p:cNvPicPr>
            <a:picLocks noChangeAspect="1"/>
          </p:cNvPicPr>
          <p:nvPr/>
        </p:nvPicPr>
        <p:blipFill>
          <a:blip r:embed="rId1"/>
          <a:srcRect l="0" r="0" t="-34" b="-34"/>
          <a:stretch/>
        </p:blipFill>
        <p:spPr>
          <a:xfrm>
            <a:off x="9334500" y="6273800"/>
            <a:ext cx="1384300" cy="203200"/>
          </a:xfrm>
          <a:prstGeom prst="rect">
            <a:avLst/>
          </a:prstGeom>
        </p:spPr>
      </p:pic>
      <p:sp>
        <p:nvSpPr>
          <p:cNvPr id="4" name="Text 1"/>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5</a:t>
            </a:r>
            <a:endParaRPr lang="en-US" sz="1200" dirty="0"/>
          </a:p>
        </p:txBody>
      </p:sp>
      <p:sp>
        <p:nvSpPr>
          <p:cNvPr id="5" name="Text 2"/>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8292B"/>
                </a:solidFill>
                <a:latin typeface="Space Grotesk" pitchFamily="34" charset="0"/>
                <a:ea typeface="Space Grotesk" pitchFamily="34" charset="-122"/>
                <a:cs typeface="Space Grotesk" pitchFamily="34" charset="-120"/>
              </a:rPr>
              <a:t>Senders are steady. Value is not.</a:t>
            </a:r>
            <a:endParaRPr lang="en-US" sz="3600" dirty="0"/>
          </a:p>
        </p:txBody>
      </p:sp>
      <p:sp>
        <p:nvSpPr>
          <p:cNvPr id="6" name="Text 3"/>
          <p:cNvSpPr/>
          <p:nvPr/>
        </p:nvSpPr>
        <p:spPr>
          <a:xfrm>
            <a:off x="698786" y="1517600"/>
            <a:ext cx="7828978"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434C54"/>
                </a:solidFill>
                <a:latin typeface="IBM Plex Sans" pitchFamily="34" charset="0"/>
                <a:ea typeface="IBM Plex Sans" pitchFamily="34" charset="-122"/>
                <a:cs typeface="IBM Plex Sans" pitchFamily="34" charset="-120"/>
              </a:rPr>
              <a:t>JANUARY</a:t>
            </a:r>
            <a:endParaRPr lang="en-US" sz="1200" dirty="0"/>
          </a:p>
        </p:txBody>
      </p:sp>
      <p:sp>
        <p:nvSpPr>
          <p:cNvPr id="7" name="Text 4"/>
          <p:cNvSpPr/>
          <p:nvPr/>
        </p:nvSpPr>
        <p:spPr>
          <a:xfrm>
            <a:off x="8369268" y="1517600"/>
            <a:ext cx="3054414"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434C54"/>
                </a:solidFill>
                <a:latin typeface="IBM Plex Sans" pitchFamily="34" charset="0"/>
                <a:ea typeface="IBM Plex Sans" pitchFamily="34" charset="-122"/>
                <a:cs typeface="IBM Plex Sans" pitchFamily="34" charset="-120"/>
              </a:rPr>
              <a:t>MARCH</a:t>
            </a:r>
            <a:endParaRPr lang="en-US" sz="1200" dirty="0"/>
          </a:p>
        </p:txBody>
      </p:sp>
      <p:sp>
        <p:nvSpPr>
          <p:cNvPr id="8" name="Text 5"/>
          <p:cNvSpPr/>
          <p:nvPr/>
        </p:nvSpPr>
        <p:spPr>
          <a:xfrm>
            <a:off x="812800" y="2178745"/>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Active senders</a:t>
            </a:r>
            <a:endParaRPr lang="en-US" sz="1600" dirty="0"/>
          </a:p>
        </p:txBody>
      </p:sp>
      <p:sp>
        <p:nvSpPr>
          <p:cNvPr id="9" name="Text 6"/>
          <p:cNvSpPr/>
          <p:nvPr/>
        </p:nvSpPr>
        <p:spPr>
          <a:xfrm>
            <a:off x="812800" y="2488605"/>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Distinct people sending</a:t>
            </a:r>
            <a:endParaRPr lang="en-US" sz="1200" dirty="0"/>
          </a:p>
        </p:txBody>
      </p:sp>
      <p:sp>
        <p:nvSpPr>
          <p:cNvPr id="10" name="Shape 7"/>
          <p:cNvSpPr/>
          <p:nvPr/>
        </p:nvSpPr>
        <p:spPr>
          <a:xfrm>
            <a:off x="4108450" y="1832074"/>
            <a:ext cx="952500" cy="952500"/>
          </a:xfrm>
          <a:prstGeom prst="roundRect">
            <a:avLst>
              <a:gd name="adj" fmla="val 50000"/>
            </a:avLst>
          </a:prstGeom>
          <a:solidFill>
            <a:srgbClr val="434C54"/>
          </a:solidFill>
          <a:ln/>
        </p:spPr>
      </p:sp>
      <p:sp>
        <p:nvSpPr>
          <p:cNvPr id="11" name="Text 8"/>
          <p:cNvSpPr/>
          <p:nvPr/>
        </p:nvSpPr>
        <p:spPr>
          <a:xfrm>
            <a:off x="4249539" y="2166094"/>
            <a:ext cx="72112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IBM Plex Sans" pitchFamily="34" charset="0"/>
                <a:ea typeface="IBM Plex Sans" pitchFamily="34" charset="-122"/>
                <a:cs typeface="IBM Plex Sans" pitchFamily="34" charset="-120"/>
              </a:rPr>
              <a:t>12,405</a:t>
            </a:r>
            <a:endParaRPr lang="en-US" sz="1600" dirty="0"/>
          </a:p>
        </p:txBody>
      </p:sp>
      <p:sp>
        <p:nvSpPr>
          <p:cNvPr id="12" name="Shape 9"/>
          <p:cNvSpPr/>
          <p:nvPr/>
        </p:nvSpPr>
        <p:spPr>
          <a:xfrm>
            <a:off x="6829425" y="1835249"/>
            <a:ext cx="946150" cy="946150"/>
          </a:xfrm>
          <a:prstGeom prst="roundRect">
            <a:avLst>
              <a:gd name="adj" fmla="val 50000"/>
            </a:avLst>
          </a:prstGeom>
          <a:solidFill>
            <a:srgbClr val="434C54"/>
          </a:solidFill>
          <a:ln/>
        </p:spPr>
      </p:sp>
      <p:sp>
        <p:nvSpPr>
          <p:cNvPr id="13" name="Text 10"/>
          <p:cNvSpPr/>
          <p:nvPr/>
        </p:nvSpPr>
        <p:spPr>
          <a:xfrm>
            <a:off x="6967339" y="2166094"/>
            <a:ext cx="72112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IBM Plex Sans" pitchFamily="34" charset="0"/>
                <a:ea typeface="IBM Plex Sans" pitchFamily="34" charset="-122"/>
                <a:cs typeface="IBM Plex Sans" pitchFamily="34" charset="-120"/>
              </a:rPr>
              <a:t>12,285</a:t>
            </a:r>
            <a:endParaRPr lang="en-US" sz="1600" dirty="0"/>
          </a:p>
        </p:txBody>
      </p:sp>
      <p:sp>
        <p:nvSpPr>
          <p:cNvPr id="14" name="Text 11"/>
          <p:cNvSpPr/>
          <p:nvPr/>
        </p:nvSpPr>
        <p:spPr>
          <a:xfrm>
            <a:off x="7069386" y="2835374"/>
            <a:ext cx="5170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4C54"/>
                </a:solidFill>
                <a:latin typeface="IBM Plex Sans" pitchFamily="34" charset="0"/>
                <a:ea typeface="IBM Plex Sans" pitchFamily="34" charset="-122"/>
                <a:cs typeface="IBM Plex Sans" pitchFamily="34" charset="-120"/>
              </a:rPr>
              <a:t>−1.0%</a:t>
            </a:r>
            <a:endParaRPr lang="en-US" sz="1200" dirty="0"/>
          </a:p>
        </p:txBody>
      </p:sp>
      <p:sp>
        <p:nvSpPr>
          <p:cNvPr id="15" name="Shape 12"/>
          <p:cNvSpPr/>
          <p:nvPr/>
        </p:nvSpPr>
        <p:spPr>
          <a:xfrm>
            <a:off x="9550400" y="1838424"/>
            <a:ext cx="939800" cy="939800"/>
          </a:xfrm>
          <a:prstGeom prst="roundRect">
            <a:avLst>
              <a:gd name="adj" fmla="val 50000"/>
            </a:avLst>
          </a:prstGeom>
          <a:solidFill>
            <a:srgbClr val="434C54"/>
          </a:solidFill>
          <a:ln/>
        </p:spPr>
      </p:sp>
      <p:sp>
        <p:nvSpPr>
          <p:cNvPr id="16" name="Text 13"/>
          <p:cNvSpPr/>
          <p:nvPr/>
        </p:nvSpPr>
        <p:spPr>
          <a:xfrm>
            <a:off x="9685139" y="2166094"/>
            <a:ext cx="72112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IBM Plex Sans" pitchFamily="34" charset="0"/>
                <a:ea typeface="IBM Plex Sans" pitchFamily="34" charset="-122"/>
                <a:cs typeface="IBM Plex Sans" pitchFamily="34" charset="-120"/>
              </a:rPr>
              <a:t>12,246</a:t>
            </a:r>
            <a:endParaRPr lang="en-US" sz="1600" dirty="0"/>
          </a:p>
        </p:txBody>
      </p:sp>
      <p:sp>
        <p:nvSpPr>
          <p:cNvPr id="17" name="Text 14"/>
          <p:cNvSpPr/>
          <p:nvPr/>
        </p:nvSpPr>
        <p:spPr>
          <a:xfrm>
            <a:off x="9787186" y="2835374"/>
            <a:ext cx="5170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4C54"/>
                </a:solidFill>
                <a:latin typeface="IBM Plex Sans" pitchFamily="34" charset="0"/>
                <a:ea typeface="IBM Plex Sans" pitchFamily="34" charset="-122"/>
                <a:cs typeface="IBM Plex Sans" pitchFamily="34" charset="-120"/>
              </a:rPr>
              <a:t>−0.3%</a:t>
            </a:r>
            <a:endParaRPr lang="en-US" sz="1200" dirty="0"/>
          </a:p>
        </p:txBody>
      </p:sp>
      <p:sp>
        <p:nvSpPr>
          <p:cNvPr id="18" name="Text 15"/>
          <p:cNvSpPr/>
          <p:nvPr/>
        </p:nvSpPr>
        <p:spPr>
          <a:xfrm>
            <a:off x="812800" y="3496221"/>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Transfers</a:t>
            </a:r>
            <a:endParaRPr lang="en-US" sz="1600" dirty="0"/>
          </a:p>
        </p:txBody>
      </p:sp>
      <p:sp>
        <p:nvSpPr>
          <p:cNvPr id="19" name="Text 16"/>
          <p:cNvSpPr/>
          <p:nvPr/>
        </p:nvSpPr>
        <p:spPr>
          <a:xfrm>
            <a:off x="812800" y="3806081"/>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Number of transfers</a:t>
            </a:r>
            <a:endParaRPr lang="en-US" sz="1200" dirty="0"/>
          </a:p>
        </p:txBody>
      </p:sp>
      <p:sp>
        <p:nvSpPr>
          <p:cNvPr id="20" name="Shape 17"/>
          <p:cNvSpPr/>
          <p:nvPr/>
        </p:nvSpPr>
        <p:spPr>
          <a:xfrm>
            <a:off x="4108450" y="3149550"/>
            <a:ext cx="952500" cy="952500"/>
          </a:xfrm>
          <a:prstGeom prst="roundRect">
            <a:avLst>
              <a:gd name="adj" fmla="val 50000"/>
            </a:avLst>
          </a:prstGeom>
          <a:solidFill>
            <a:srgbClr val="434C54"/>
          </a:solidFill>
          <a:ln/>
        </p:spPr>
      </p:sp>
      <p:sp>
        <p:nvSpPr>
          <p:cNvPr id="21" name="Text 18"/>
          <p:cNvSpPr/>
          <p:nvPr/>
        </p:nvSpPr>
        <p:spPr>
          <a:xfrm>
            <a:off x="4249539" y="3483570"/>
            <a:ext cx="72112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IBM Plex Sans" pitchFamily="34" charset="0"/>
                <a:ea typeface="IBM Plex Sans" pitchFamily="34" charset="-122"/>
                <a:cs typeface="IBM Plex Sans" pitchFamily="34" charset="-120"/>
              </a:rPr>
              <a:t>55,226</a:t>
            </a:r>
            <a:endParaRPr lang="en-US" sz="1600" dirty="0"/>
          </a:p>
        </p:txBody>
      </p:sp>
      <p:sp>
        <p:nvSpPr>
          <p:cNvPr id="22" name="Shape 19"/>
          <p:cNvSpPr/>
          <p:nvPr/>
        </p:nvSpPr>
        <p:spPr>
          <a:xfrm>
            <a:off x="6845300" y="3168600"/>
            <a:ext cx="914400" cy="914400"/>
          </a:xfrm>
          <a:prstGeom prst="roundRect">
            <a:avLst>
              <a:gd name="adj" fmla="val 50000"/>
            </a:avLst>
          </a:prstGeom>
          <a:solidFill>
            <a:srgbClr val="434C54"/>
          </a:solidFill>
          <a:ln/>
        </p:spPr>
      </p:sp>
      <p:sp>
        <p:nvSpPr>
          <p:cNvPr id="23" name="Text 20"/>
          <p:cNvSpPr/>
          <p:nvPr/>
        </p:nvSpPr>
        <p:spPr>
          <a:xfrm>
            <a:off x="6967339" y="3483570"/>
            <a:ext cx="72112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IBM Plex Sans" pitchFamily="34" charset="0"/>
                <a:ea typeface="IBM Plex Sans" pitchFamily="34" charset="-122"/>
                <a:cs typeface="IBM Plex Sans" pitchFamily="34" charset="-120"/>
              </a:rPr>
              <a:t>53,140</a:t>
            </a:r>
            <a:endParaRPr lang="en-US" sz="1600" dirty="0"/>
          </a:p>
        </p:txBody>
      </p:sp>
      <p:sp>
        <p:nvSpPr>
          <p:cNvPr id="24" name="Text 21"/>
          <p:cNvSpPr/>
          <p:nvPr/>
        </p:nvSpPr>
        <p:spPr>
          <a:xfrm>
            <a:off x="7069386" y="4152850"/>
            <a:ext cx="5170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4C54"/>
                </a:solidFill>
                <a:latin typeface="IBM Plex Sans" pitchFamily="34" charset="0"/>
                <a:ea typeface="IBM Plex Sans" pitchFamily="34" charset="-122"/>
                <a:cs typeface="IBM Plex Sans" pitchFamily="34" charset="-120"/>
              </a:rPr>
              <a:t>−3.8%</a:t>
            </a:r>
            <a:endParaRPr lang="en-US" sz="1200" dirty="0"/>
          </a:p>
        </p:txBody>
      </p:sp>
      <p:sp>
        <p:nvSpPr>
          <p:cNvPr id="25" name="Shape 22"/>
          <p:cNvSpPr/>
          <p:nvPr/>
        </p:nvSpPr>
        <p:spPr>
          <a:xfrm>
            <a:off x="9547225" y="3152725"/>
            <a:ext cx="946150" cy="946150"/>
          </a:xfrm>
          <a:prstGeom prst="roundRect">
            <a:avLst>
              <a:gd name="adj" fmla="val 50000"/>
            </a:avLst>
          </a:prstGeom>
          <a:solidFill>
            <a:srgbClr val="434C54"/>
          </a:solidFill>
          <a:ln/>
        </p:spPr>
      </p:sp>
      <p:sp>
        <p:nvSpPr>
          <p:cNvPr id="26" name="Text 23"/>
          <p:cNvSpPr/>
          <p:nvPr/>
        </p:nvSpPr>
        <p:spPr>
          <a:xfrm>
            <a:off x="9685139" y="3483570"/>
            <a:ext cx="72112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IBM Plex Sans" pitchFamily="34" charset="0"/>
                <a:ea typeface="IBM Plex Sans" pitchFamily="34" charset="-122"/>
                <a:cs typeface="IBM Plex Sans" pitchFamily="34" charset="-120"/>
              </a:rPr>
              <a:t>54,723</a:t>
            </a:r>
            <a:endParaRPr lang="en-US" sz="1600" dirty="0"/>
          </a:p>
        </p:txBody>
      </p:sp>
      <p:sp>
        <p:nvSpPr>
          <p:cNvPr id="27" name="Text 24"/>
          <p:cNvSpPr/>
          <p:nvPr/>
        </p:nvSpPr>
        <p:spPr>
          <a:xfrm>
            <a:off x="9787186" y="4152850"/>
            <a:ext cx="5170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4C54"/>
                </a:solidFill>
                <a:latin typeface="IBM Plex Sans" pitchFamily="34" charset="0"/>
                <a:ea typeface="IBM Plex Sans" pitchFamily="34" charset="-122"/>
                <a:cs typeface="IBM Plex Sans" pitchFamily="34" charset="-120"/>
              </a:rPr>
              <a:t>+3.0%</a:t>
            </a:r>
            <a:endParaRPr lang="en-US" sz="1200" dirty="0"/>
          </a:p>
        </p:txBody>
      </p:sp>
      <p:sp>
        <p:nvSpPr>
          <p:cNvPr id="28" name="Text 25"/>
          <p:cNvSpPr/>
          <p:nvPr/>
        </p:nvSpPr>
        <p:spPr>
          <a:xfrm>
            <a:off x="812800" y="4813697"/>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Value (CA$)</a:t>
            </a:r>
            <a:endParaRPr lang="en-US" sz="1600" dirty="0"/>
          </a:p>
        </p:txBody>
      </p:sp>
      <p:sp>
        <p:nvSpPr>
          <p:cNvPr id="29" name="Text 26"/>
          <p:cNvSpPr/>
          <p:nvPr/>
        </p:nvSpPr>
        <p:spPr>
          <a:xfrm>
            <a:off x="812800" y="5123557"/>
            <a:ext cx="24853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71A"/>
                </a:solidFill>
                <a:latin typeface="IBM Plex Sans" pitchFamily="34" charset="0"/>
                <a:ea typeface="IBM Plex Sans" pitchFamily="34" charset="-122"/>
                <a:cs typeface="IBM Plex Sans" pitchFamily="34" charset="-120"/>
              </a:rPr>
              <a:t>Down 14.3%, Jan → Mar</a:t>
            </a:r>
            <a:endParaRPr lang="en-US" sz="1200" dirty="0"/>
          </a:p>
        </p:txBody>
      </p:sp>
      <p:sp>
        <p:nvSpPr>
          <p:cNvPr id="30" name="Shape 27"/>
          <p:cNvSpPr/>
          <p:nvPr/>
        </p:nvSpPr>
        <p:spPr>
          <a:xfrm>
            <a:off x="4108450" y="4467027"/>
            <a:ext cx="952500" cy="952500"/>
          </a:xfrm>
          <a:prstGeom prst="roundRect">
            <a:avLst>
              <a:gd name="adj" fmla="val 50000"/>
            </a:avLst>
          </a:prstGeom>
          <a:solidFill>
            <a:srgbClr val="E66227"/>
          </a:solidFill>
          <a:ln/>
        </p:spPr>
      </p:sp>
      <p:sp>
        <p:nvSpPr>
          <p:cNvPr id="31" name="Text 28"/>
          <p:cNvSpPr/>
          <p:nvPr/>
        </p:nvSpPr>
        <p:spPr>
          <a:xfrm>
            <a:off x="4227463" y="4801046"/>
            <a:ext cx="76522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IBM Plex Sans" pitchFamily="34" charset="0"/>
                <a:ea typeface="IBM Plex Sans" pitchFamily="34" charset="-122"/>
                <a:cs typeface="IBM Plex Sans" pitchFamily="34" charset="-120"/>
              </a:rPr>
              <a:t>$21.9M</a:t>
            </a:r>
            <a:endParaRPr lang="en-US" sz="1600" dirty="0"/>
          </a:p>
        </p:txBody>
      </p:sp>
      <p:sp>
        <p:nvSpPr>
          <p:cNvPr id="32" name="Shape 29"/>
          <p:cNvSpPr/>
          <p:nvPr/>
        </p:nvSpPr>
        <p:spPr>
          <a:xfrm>
            <a:off x="6883400" y="4524177"/>
            <a:ext cx="838200" cy="838200"/>
          </a:xfrm>
          <a:prstGeom prst="roundRect">
            <a:avLst>
              <a:gd name="adj" fmla="val 50000"/>
            </a:avLst>
          </a:prstGeom>
          <a:solidFill>
            <a:srgbClr val="E66227"/>
          </a:solidFill>
          <a:ln/>
        </p:spPr>
      </p:sp>
      <p:sp>
        <p:nvSpPr>
          <p:cNvPr id="33" name="Text 30"/>
          <p:cNvSpPr/>
          <p:nvPr/>
        </p:nvSpPr>
        <p:spPr>
          <a:xfrm>
            <a:off x="6945263" y="4801046"/>
            <a:ext cx="76522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IBM Plex Sans" pitchFamily="34" charset="0"/>
                <a:ea typeface="IBM Plex Sans" pitchFamily="34" charset="-122"/>
                <a:cs typeface="IBM Plex Sans" pitchFamily="34" charset="-120"/>
              </a:rPr>
              <a:t>$19.3M</a:t>
            </a:r>
            <a:endParaRPr lang="en-US" sz="1600" dirty="0"/>
          </a:p>
        </p:txBody>
      </p:sp>
      <p:sp>
        <p:nvSpPr>
          <p:cNvPr id="34" name="Text 31"/>
          <p:cNvSpPr/>
          <p:nvPr/>
        </p:nvSpPr>
        <p:spPr>
          <a:xfrm>
            <a:off x="7023646" y="5470327"/>
            <a:ext cx="608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71A"/>
                </a:solidFill>
                <a:latin typeface="IBM Plex Sans" pitchFamily="34" charset="0"/>
                <a:ea typeface="IBM Plex Sans" pitchFamily="34" charset="-122"/>
                <a:cs typeface="IBM Plex Sans" pitchFamily="34" charset="-120"/>
              </a:rPr>
              <a:t>−12.1%</a:t>
            </a:r>
            <a:endParaRPr lang="en-US" sz="1200" dirty="0"/>
          </a:p>
        </p:txBody>
      </p:sp>
      <p:sp>
        <p:nvSpPr>
          <p:cNvPr id="35" name="Shape 32"/>
          <p:cNvSpPr/>
          <p:nvPr/>
        </p:nvSpPr>
        <p:spPr>
          <a:xfrm>
            <a:off x="9610725" y="4533702"/>
            <a:ext cx="819150" cy="819150"/>
          </a:xfrm>
          <a:prstGeom prst="roundRect">
            <a:avLst>
              <a:gd name="adj" fmla="val 50000"/>
            </a:avLst>
          </a:prstGeom>
          <a:solidFill>
            <a:srgbClr val="E66227"/>
          </a:solidFill>
          <a:ln/>
        </p:spPr>
      </p:sp>
      <p:sp>
        <p:nvSpPr>
          <p:cNvPr id="36" name="Text 33"/>
          <p:cNvSpPr/>
          <p:nvPr/>
        </p:nvSpPr>
        <p:spPr>
          <a:xfrm>
            <a:off x="9663063" y="4801046"/>
            <a:ext cx="76522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IBM Plex Sans" pitchFamily="34" charset="0"/>
                <a:ea typeface="IBM Plex Sans" pitchFamily="34" charset="-122"/>
                <a:cs typeface="IBM Plex Sans" pitchFamily="34" charset="-120"/>
              </a:rPr>
              <a:t>$18.8M</a:t>
            </a:r>
            <a:endParaRPr lang="en-US" sz="1600" dirty="0"/>
          </a:p>
        </p:txBody>
      </p:sp>
      <p:sp>
        <p:nvSpPr>
          <p:cNvPr id="37" name="Text 34"/>
          <p:cNvSpPr/>
          <p:nvPr/>
        </p:nvSpPr>
        <p:spPr>
          <a:xfrm>
            <a:off x="9787186" y="5470327"/>
            <a:ext cx="5170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71A"/>
                </a:solidFill>
                <a:latin typeface="IBM Plex Sans" pitchFamily="34" charset="0"/>
                <a:ea typeface="IBM Plex Sans" pitchFamily="34" charset="-122"/>
                <a:cs typeface="IBM Plex Sans" pitchFamily="34" charset="-120"/>
              </a:rPr>
              <a:t>−2.5%</a:t>
            </a:r>
            <a:endParaRPr lang="en-US" sz="1200" dirty="0"/>
          </a:p>
        </p:txBody>
      </p:sp>
      <p:sp>
        <p:nvSpPr>
          <p:cNvPr id="38" name="Text 35"/>
          <p:cNvSpPr/>
          <p:nvPr/>
        </p:nvSpPr>
        <p:spPr>
          <a:xfrm>
            <a:off x="5386606" y="1507530"/>
            <a:ext cx="3629978"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434C54"/>
                </a:solidFill>
                <a:latin typeface="IBM Plex Sans" pitchFamily="34" charset="0"/>
                <a:ea typeface="IBM Plex Sans" pitchFamily="34" charset="-122"/>
                <a:cs typeface="IBM Plex Sans" pitchFamily="34" charset="-120"/>
              </a:rPr>
              <a:t>FEBRUARY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8292B"/>
                </a:solidFill>
                <a:latin typeface="Space Grotesk" pitchFamily="34" charset="0"/>
                <a:ea typeface="Space Grotesk" pitchFamily="34" charset="-122"/>
                <a:cs typeface="Space Grotesk" pitchFamily="34" charset="-120"/>
              </a:rPr>
              <a:t>Transfers shrank as the naira weakened</a:t>
            </a:r>
            <a:endParaRPr lang="en-US" sz="3600" dirty="0"/>
          </a:p>
        </p:txBody>
      </p:sp>
      <p:sp>
        <p:nvSpPr>
          <p:cNvPr id="3" name="Shape 1"/>
          <p:cNvSpPr/>
          <p:nvPr/>
        </p:nvSpPr>
        <p:spPr>
          <a:xfrm>
            <a:off x="815975" y="1623665"/>
            <a:ext cx="5175250" cy="3160961"/>
          </a:xfrm>
          <a:prstGeom prst="roundRect">
            <a:avLst>
              <a:gd name="adj" fmla="val 3114"/>
            </a:avLst>
          </a:prstGeom>
          <a:solidFill>
            <a:srgbClr val="FFFDF8"/>
          </a:solidFill>
          <a:ln w="6350">
            <a:solidFill>
              <a:srgbClr val="DEDAD0"/>
            </a:solidFill>
            <a:prstDash val="solid"/>
          </a:ln>
        </p:spPr>
      </p:sp>
      <p:sp>
        <p:nvSpPr>
          <p:cNvPr id="4" name="Text 2"/>
          <p:cNvSpPr/>
          <p:nvPr/>
        </p:nvSpPr>
        <p:spPr>
          <a:xfrm>
            <a:off x="1073150" y="1880840"/>
            <a:ext cx="48007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92B"/>
                </a:solidFill>
                <a:latin typeface="IBM Plex Sans" pitchFamily="34" charset="0"/>
                <a:ea typeface="IBM Plex Sans" pitchFamily="34" charset="-122"/>
                <a:cs typeface="IBM Plex Sans" pitchFamily="34" charset="-120"/>
              </a:rPr>
              <a:t>Average CAD→NGN transfer (CA$)</a:t>
            </a:r>
            <a:endParaRPr lang="en-US" sz="1600" dirty="0"/>
          </a:p>
        </p:txBody>
      </p:sp>
      <p:sp>
        <p:nvSpPr>
          <p:cNvPr id="5" name="Text 3"/>
          <p:cNvSpPr/>
          <p:nvPr/>
        </p:nvSpPr>
        <p:spPr>
          <a:xfrm>
            <a:off x="1555254" y="2277070"/>
            <a:ext cx="5385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$236</a:t>
            </a:r>
            <a:endParaRPr lang="en-US" sz="1600" dirty="0"/>
          </a:p>
        </p:txBody>
      </p:sp>
      <p:sp>
        <p:nvSpPr>
          <p:cNvPr id="6" name="Shape 4"/>
          <p:cNvSpPr/>
          <p:nvPr/>
        </p:nvSpPr>
        <p:spPr>
          <a:xfrm>
            <a:off x="1418134" y="2612330"/>
            <a:ext cx="762000" cy="1651000"/>
          </a:xfrm>
          <a:prstGeom prst="roundRect">
            <a:avLst>
              <a:gd name="adj" fmla="val 3333"/>
            </a:avLst>
          </a:prstGeom>
          <a:solidFill>
            <a:srgbClr val="434C54"/>
          </a:solidFill>
          <a:ln/>
        </p:spPr>
      </p:sp>
      <p:sp>
        <p:nvSpPr>
          <p:cNvPr id="7" name="Text 5"/>
          <p:cNvSpPr/>
          <p:nvPr/>
        </p:nvSpPr>
        <p:spPr>
          <a:xfrm>
            <a:off x="1676251" y="4314130"/>
            <a:ext cx="296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Jan</a:t>
            </a:r>
            <a:endParaRPr lang="en-US" sz="1200" dirty="0"/>
          </a:p>
        </p:txBody>
      </p:sp>
      <p:sp>
        <p:nvSpPr>
          <p:cNvPr id="8" name="Text 6"/>
          <p:cNvSpPr/>
          <p:nvPr/>
        </p:nvSpPr>
        <p:spPr>
          <a:xfrm>
            <a:off x="3159671" y="2461220"/>
            <a:ext cx="5385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$210</a:t>
            </a:r>
            <a:endParaRPr lang="en-US" sz="1600" dirty="0"/>
          </a:p>
        </p:txBody>
      </p:sp>
      <p:sp>
        <p:nvSpPr>
          <p:cNvPr id="9" name="Shape 7"/>
          <p:cNvSpPr/>
          <p:nvPr/>
        </p:nvSpPr>
        <p:spPr>
          <a:xfrm>
            <a:off x="3022550" y="2796480"/>
            <a:ext cx="762000" cy="1466850"/>
          </a:xfrm>
          <a:prstGeom prst="roundRect">
            <a:avLst>
              <a:gd name="adj" fmla="val 3333"/>
            </a:avLst>
          </a:prstGeom>
          <a:solidFill>
            <a:srgbClr val="434C54"/>
          </a:solidFill>
          <a:ln/>
        </p:spPr>
      </p:sp>
      <p:sp>
        <p:nvSpPr>
          <p:cNvPr id="10" name="Text 8"/>
          <p:cNvSpPr/>
          <p:nvPr/>
        </p:nvSpPr>
        <p:spPr>
          <a:xfrm>
            <a:off x="3276798" y="4314130"/>
            <a:ext cx="304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Feb</a:t>
            </a:r>
            <a:endParaRPr lang="en-US" sz="1200" dirty="0"/>
          </a:p>
        </p:txBody>
      </p:sp>
      <p:sp>
        <p:nvSpPr>
          <p:cNvPr id="11" name="Text 9"/>
          <p:cNvSpPr/>
          <p:nvPr/>
        </p:nvSpPr>
        <p:spPr>
          <a:xfrm>
            <a:off x="4764137" y="2492970"/>
            <a:ext cx="5385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$205</a:t>
            </a:r>
            <a:endParaRPr lang="en-US" sz="1600" dirty="0"/>
          </a:p>
        </p:txBody>
      </p:sp>
      <p:sp>
        <p:nvSpPr>
          <p:cNvPr id="12" name="Shape 10"/>
          <p:cNvSpPr/>
          <p:nvPr/>
        </p:nvSpPr>
        <p:spPr>
          <a:xfrm>
            <a:off x="4627017" y="2828230"/>
            <a:ext cx="762000" cy="1435100"/>
          </a:xfrm>
          <a:prstGeom prst="roundRect">
            <a:avLst>
              <a:gd name="adj" fmla="val 3333"/>
            </a:avLst>
          </a:prstGeom>
          <a:solidFill>
            <a:srgbClr val="434C54"/>
          </a:solidFill>
          <a:ln/>
        </p:spPr>
      </p:sp>
      <p:sp>
        <p:nvSpPr>
          <p:cNvPr id="13" name="Text 11"/>
          <p:cNvSpPr/>
          <p:nvPr/>
        </p:nvSpPr>
        <p:spPr>
          <a:xfrm>
            <a:off x="4877445" y="4314130"/>
            <a:ext cx="3118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Mar</a:t>
            </a:r>
            <a:endParaRPr lang="en-US" sz="1200" dirty="0"/>
          </a:p>
        </p:txBody>
      </p:sp>
      <p:sp>
        <p:nvSpPr>
          <p:cNvPr id="14" name="Shape 12"/>
          <p:cNvSpPr/>
          <p:nvPr/>
        </p:nvSpPr>
        <p:spPr>
          <a:xfrm>
            <a:off x="6200775" y="1623665"/>
            <a:ext cx="5175250" cy="3160961"/>
          </a:xfrm>
          <a:prstGeom prst="roundRect">
            <a:avLst>
              <a:gd name="adj" fmla="val 3114"/>
            </a:avLst>
          </a:prstGeom>
          <a:solidFill>
            <a:srgbClr val="FFFDF8"/>
          </a:solidFill>
          <a:ln w="6350">
            <a:solidFill>
              <a:srgbClr val="DEDAD0"/>
            </a:solidFill>
            <a:prstDash val="solid"/>
          </a:ln>
        </p:spPr>
      </p:sp>
      <p:sp>
        <p:nvSpPr>
          <p:cNvPr id="15" name="Text 13"/>
          <p:cNvSpPr/>
          <p:nvPr/>
        </p:nvSpPr>
        <p:spPr>
          <a:xfrm>
            <a:off x="6457950" y="1880840"/>
            <a:ext cx="48007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92B"/>
                </a:solidFill>
                <a:latin typeface="IBM Plex Sans" pitchFamily="34" charset="0"/>
                <a:ea typeface="IBM Plex Sans" pitchFamily="34" charset="-122"/>
                <a:cs typeface="IBM Plex Sans" pitchFamily="34" charset="-120"/>
              </a:rPr>
              <a:t>Naira per Canadian dollar (average rate)</a:t>
            </a:r>
            <a:endParaRPr lang="en-US" sz="1600" dirty="0"/>
          </a:p>
        </p:txBody>
      </p:sp>
      <p:sp>
        <p:nvSpPr>
          <p:cNvPr id="16" name="Text 14"/>
          <p:cNvSpPr/>
          <p:nvPr/>
        </p:nvSpPr>
        <p:spPr>
          <a:xfrm>
            <a:off x="7001024" y="2531070"/>
            <a:ext cx="4165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977</a:t>
            </a:r>
            <a:endParaRPr lang="en-US" sz="1600" dirty="0"/>
          </a:p>
        </p:txBody>
      </p:sp>
      <p:sp>
        <p:nvSpPr>
          <p:cNvPr id="17" name="Shape 15"/>
          <p:cNvSpPr/>
          <p:nvPr/>
        </p:nvSpPr>
        <p:spPr>
          <a:xfrm>
            <a:off x="6802934" y="2866330"/>
            <a:ext cx="762000" cy="1397000"/>
          </a:xfrm>
          <a:prstGeom prst="roundRect">
            <a:avLst>
              <a:gd name="adj" fmla="val 3333"/>
            </a:avLst>
          </a:prstGeom>
          <a:solidFill>
            <a:srgbClr val="E66227"/>
          </a:solidFill>
          <a:ln/>
        </p:spPr>
      </p:sp>
      <p:sp>
        <p:nvSpPr>
          <p:cNvPr id="18" name="Text 16"/>
          <p:cNvSpPr/>
          <p:nvPr/>
        </p:nvSpPr>
        <p:spPr>
          <a:xfrm>
            <a:off x="7061051" y="4314130"/>
            <a:ext cx="296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Jan</a:t>
            </a:r>
            <a:endParaRPr lang="en-US" sz="1200" dirty="0"/>
          </a:p>
        </p:txBody>
      </p:sp>
      <p:sp>
        <p:nvSpPr>
          <p:cNvPr id="19" name="Text 17"/>
          <p:cNvSpPr/>
          <p:nvPr/>
        </p:nvSpPr>
        <p:spPr>
          <a:xfrm>
            <a:off x="8514110" y="2277070"/>
            <a:ext cx="5992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1,157</a:t>
            </a:r>
            <a:endParaRPr lang="en-US" sz="1600" dirty="0"/>
          </a:p>
        </p:txBody>
      </p:sp>
      <p:sp>
        <p:nvSpPr>
          <p:cNvPr id="20" name="Shape 18"/>
          <p:cNvSpPr/>
          <p:nvPr/>
        </p:nvSpPr>
        <p:spPr>
          <a:xfrm>
            <a:off x="8407350" y="2612330"/>
            <a:ext cx="762000" cy="1651000"/>
          </a:xfrm>
          <a:prstGeom prst="roundRect">
            <a:avLst>
              <a:gd name="adj" fmla="val 3333"/>
            </a:avLst>
          </a:prstGeom>
          <a:solidFill>
            <a:srgbClr val="E66227"/>
          </a:solidFill>
          <a:ln/>
        </p:spPr>
      </p:sp>
      <p:sp>
        <p:nvSpPr>
          <p:cNvPr id="21" name="Text 19"/>
          <p:cNvSpPr/>
          <p:nvPr/>
        </p:nvSpPr>
        <p:spPr>
          <a:xfrm>
            <a:off x="8661598" y="4314130"/>
            <a:ext cx="304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Feb</a:t>
            </a:r>
            <a:endParaRPr lang="en-US" sz="1200" dirty="0"/>
          </a:p>
        </p:txBody>
      </p:sp>
      <p:sp>
        <p:nvSpPr>
          <p:cNvPr id="22" name="Text 20"/>
          <p:cNvSpPr/>
          <p:nvPr/>
        </p:nvSpPr>
        <p:spPr>
          <a:xfrm>
            <a:off x="10118576" y="2359620"/>
            <a:ext cx="5992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1,101</a:t>
            </a:r>
            <a:endParaRPr lang="en-US" sz="1600" dirty="0"/>
          </a:p>
        </p:txBody>
      </p:sp>
      <p:sp>
        <p:nvSpPr>
          <p:cNvPr id="23" name="Shape 21"/>
          <p:cNvSpPr/>
          <p:nvPr/>
        </p:nvSpPr>
        <p:spPr>
          <a:xfrm>
            <a:off x="10011817" y="2694880"/>
            <a:ext cx="762000" cy="1568450"/>
          </a:xfrm>
          <a:prstGeom prst="roundRect">
            <a:avLst>
              <a:gd name="adj" fmla="val 3333"/>
            </a:avLst>
          </a:prstGeom>
          <a:solidFill>
            <a:srgbClr val="E66227"/>
          </a:solidFill>
          <a:ln/>
        </p:spPr>
      </p:sp>
      <p:sp>
        <p:nvSpPr>
          <p:cNvPr id="24" name="Text 22"/>
          <p:cNvSpPr/>
          <p:nvPr/>
        </p:nvSpPr>
        <p:spPr>
          <a:xfrm>
            <a:off x="10262245" y="4314130"/>
            <a:ext cx="3118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Mar</a:t>
            </a:r>
            <a:endParaRPr lang="en-US" sz="1200" dirty="0"/>
          </a:p>
        </p:txBody>
      </p:sp>
      <p:sp>
        <p:nvSpPr>
          <p:cNvPr id="25" name="Text 23"/>
          <p:cNvSpPr/>
          <p:nvPr/>
        </p:nvSpPr>
        <p:spPr>
          <a:xfrm>
            <a:off x="812800" y="509260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Each dollar now buys more naira, so senders likely need fewer dollars per transfer. Our CAD value moves with the exchange rate.</a:t>
            </a:r>
            <a:endParaRPr lang="en-US" sz="1600" dirty="0"/>
          </a:p>
        </p:txBody>
      </p:sp>
      <p:sp>
        <p:nvSpPr>
          <p:cNvPr id="26" name="Text 2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A link over three months, not proof. NGN→CAD transfers also shrank: CA$1,358 → CA$1,240.</a:t>
            </a:r>
            <a:endParaRPr lang="en-US" sz="1200" dirty="0"/>
          </a:p>
        </p:txBody>
      </p:sp>
      <p:pic>
        <p:nvPicPr>
          <p:cNvPr id="27" name="Image 0" descr="SendFast logo">    </p:cNvPr>
          <p:cNvPicPr>
            <a:picLocks noChangeAspect="1"/>
          </p:cNvPicPr>
          <p:nvPr/>
        </p:nvPicPr>
        <p:blipFill>
          <a:blip r:embed="rId1"/>
          <a:srcRect l="0" r="0" t="-34" b="-34"/>
          <a:stretch/>
        </p:blipFill>
        <p:spPr>
          <a:xfrm>
            <a:off x="9334500" y="6273800"/>
            <a:ext cx="1384300" cy="203200"/>
          </a:xfrm>
          <a:prstGeom prst="rect">
            <a:avLst/>
          </a:prstGeom>
        </p:spPr>
      </p:pic>
      <p:sp>
        <p:nvSpPr>
          <p:cNvPr id="28" name="Text 25"/>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29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B921"/>
                </a:solidFill>
                <a:latin typeface="IBM Plex Sans" pitchFamily="34" charset="0"/>
                <a:ea typeface="IBM Plex Sans" pitchFamily="34" charset="-122"/>
                <a:cs typeface="IBM Plex Sans" pitchFamily="34" charset="-120"/>
              </a:rPr>
              <a:t>THE NGN→CAD CORRIDOR</a:t>
            </a:r>
            <a:endParaRPr lang="en-US" sz="1200" dirty="0"/>
          </a:p>
        </p:txBody>
      </p:sp>
      <p:sp>
        <p:nvSpPr>
          <p:cNvPr id="3" name="Text 1"/>
          <p:cNvSpPr/>
          <p:nvPr/>
        </p:nvSpPr>
        <p:spPr>
          <a:xfrm>
            <a:off x="812800" y="2334270"/>
            <a:ext cx="10464800" cy="17018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7F6F2"/>
                </a:solidFill>
                <a:latin typeface="Space Grotesk" pitchFamily="34" charset="0"/>
                <a:ea typeface="Space Grotesk" pitchFamily="34" charset="-122"/>
                <a:cs typeface="Space Grotesk" pitchFamily="34" charset="-120"/>
              </a:rPr>
              <a:t>13.5% of transfers.</a:t>
            </a:r>
            <a:endParaRPr lang="en-US" sz="6000" dirty="0"/>
          </a:p>
          <a:p>
            <a:pPr algn="l" indent="0" marL="0">
              <a:lnSpc>
                <a:spcPts val="6600"/>
              </a:lnSpc>
              <a:buNone/>
            </a:pPr>
            <a:r>
              <a:rPr lang="en-US" sz="6000" b="1" dirty="0">
                <a:solidFill>
                  <a:srgbClr val="F4B921"/>
                </a:solidFill>
                <a:latin typeface="Space Grotesk" pitchFamily="34" charset="0"/>
                <a:ea typeface="Space Grotesk" pitchFamily="34" charset="-122"/>
                <a:cs typeface="Space Grotesk" pitchFamily="34" charset="-120"/>
              </a:rPr>
              <a:t>48% of value.</a:t>
            </a:r>
            <a:endParaRPr lang="en-US" sz="6000" dirty="0"/>
          </a:p>
        </p:txBody>
      </p:sp>
      <p:sp>
        <p:nvSpPr>
          <p:cNvPr id="4" name="Text 2"/>
          <p:cNvSpPr/>
          <p:nvPr/>
        </p:nvSpPr>
        <p:spPr>
          <a:xfrm>
            <a:off x="812800" y="5318820"/>
            <a:ext cx="98107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CCD0"/>
                </a:solidFill>
                <a:latin typeface="IBM Plex Sans" pitchFamily="34" charset="0"/>
                <a:ea typeface="IBM Plex Sans" pitchFamily="34" charset="-122"/>
                <a:cs typeface="IBM Plex Sans" pitchFamily="34" charset="-120"/>
              </a:rPr>
              <a:t>Transfers from Nigeria to Canada average CA$1,300, six times the reverse direction. 40% are school-related, most likely tuition in Canada.</a:t>
            </a:r>
            <a:endParaRPr lang="en-US" sz="2200" dirty="0"/>
          </a:p>
        </p:txBody>
      </p:sp>
      <p:pic>
        <p:nvPicPr>
          <p:cNvPr id="5" name="Image 0" descr="SendFast logo">    </p:cNvPr>
          <p:cNvPicPr>
            <a:picLocks noChangeAspect="1"/>
          </p:cNvPicPr>
          <p:nvPr/>
        </p:nvPicPr>
        <p:blipFill>
          <a:blip r:embed="rId1"/>
          <a:srcRect l="0" r="0" t="-34" b="-34"/>
          <a:stretch/>
        </p:blipFill>
        <p:spPr>
          <a:xfrm>
            <a:off x="9994900" y="6273800"/>
            <a:ext cx="1384300" cy="203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8292B"/>
                </a:solidFill>
                <a:latin typeface="Space Grotesk" pitchFamily="34" charset="0"/>
                <a:ea typeface="Space Grotesk" pitchFamily="34" charset="-122"/>
                <a:cs typeface="Space Grotesk" pitchFamily="34" charset="-120"/>
              </a:rPr>
              <a:t>Two corridors, two businesses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3075384"/>
        </p:xfrm>
        <a:graphic>
          <a:graphicData uri="http://schemas.openxmlformats.org/drawingml/2006/table">
            <a:tbl>
              <a:tblPr/>
              <a:tblGrid>
                <a:gridCol w="4221480"/>
                <a:gridCol w="3166110"/>
                <a:gridCol w="3166110"/>
              </a:tblGrid>
              <a:tr h="439341">
                <a:tc>
                  <a:txBody>
                    <a:bodyPr/>
                    <a:lstStyle/>
                    <a:p>
                      <a:pPr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Q1 2024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CAD→NGN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NGN→CAD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439341">
                <a:tc>
                  <a:txBody>
                    <a:bodyPr/>
                    <a:lstStyle/>
                    <a:p>
                      <a:pP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People sending</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13,255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4,599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341">
                <a:tc>
                  <a:txBody>
                    <a:bodyPr/>
                    <a:lstStyle/>
                    <a:p>
                      <a:pP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Share of transfers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85.7%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13.5%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341">
                <a:tc>
                  <a:txBody>
                    <a:bodyPr/>
                    <a:lstStyle/>
                    <a:p>
                      <a:pP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Share of value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50.9%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48.2%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341">
                <a:tc>
                  <a:txBody>
                    <a:bodyPr/>
                    <a:lstStyle/>
                    <a:p>
                      <a:pP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Average transfer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CA$216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CA$1,300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341">
                <a:tc>
                  <a:txBody>
                    <a:bodyPr/>
                    <a:lstStyle/>
                    <a:p>
                      <a:pP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Typical (median) transfer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CA$81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CA$676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341">
                <a:tc>
                  <a:txBody>
                    <a:bodyPr/>
                    <a:lstStyle/>
                    <a:p>
                      <a:pP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Most common purpose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Personal (24%)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School (40%)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4" name="Shape 1"/>
          <p:cNvSpPr/>
          <p:nvPr/>
        </p:nvSpPr>
        <p:spPr>
          <a:xfrm>
            <a:off x="812800" y="5013375"/>
            <a:ext cx="10566400" cy="589260"/>
          </a:xfrm>
          <a:prstGeom prst="roundRect">
            <a:avLst>
              <a:gd name="adj" fmla="val 12931"/>
            </a:avLst>
          </a:prstGeom>
          <a:solidFill>
            <a:srgbClr val="ECEAE3"/>
          </a:solidFill>
          <a:ln/>
        </p:spPr>
      </p:sp>
      <p:sp>
        <p:nvSpPr>
          <p:cNvPr id="5" name="Text 2"/>
          <p:cNvSpPr/>
          <p:nvPr/>
        </p:nvSpPr>
        <p:spPr>
          <a:xfrm>
            <a:off x="1016000" y="5165775"/>
            <a:ext cx="10464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Value is concentrated: the top 10% of customers (1,644 people) send 51% of all value.</a:t>
            </a:r>
            <a:endParaRPr lang="en-US" sz="1600" dirty="0"/>
          </a:p>
        </p:txBody>
      </p:sp>
      <p:sp>
        <p:nvSpPr>
          <p:cNvPr id="6" name="Text 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Remittances only (same-currency debits excluded). Other corridors: under 1% of value.</a:t>
            </a:r>
            <a:endParaRPr lang="en-US" sz="1200" dirty="0"/>
          </a:p>
        </p:txBody>
      </p:sp>
      <p:pic>
        <p:nvPicPr>
          <p:cNvPr id="7" name="Image 0" descr="SendFast logo">    </p:cNvPr>
          <p:cNvPicPr>
            <a:picLocks noChangeAspect="1"/>
          </p:cNvPicPr>
          <p:nvPr/>
        </p:nvPicPr>
        <p:blipFill>
          <a:blip r:embed="rId1"/>
          <a:srcRect l="0" r="0" t="-34" b="-34"/>
          <a:stretch/>
        </p:blipFill>
        <p:spPr>
          <a:xfrm>
            <a:off x="9334500" y="6273800"/>
            <a:ext cx="1384300" cy="203200"/>
          </a:xfrm>
          <a:prstGeom prst="rect">
            <a:avLst/>
          </a:prstGeom>
        </p:spPr>
      </p:pic>
      <p:sp>
        <p:nvSpPr>
          <p:cNvPr id="8" name="Text 4"/>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8292B"/>
                </a:solidFill>
                <a:latin typeface="Space Grotesk" pitchFamily="34" charset="0"/>
                <a:ea typeface="Space Grotesk" pitchFamily="34" charset="-122"/>
                <a:cs typeface="Space Grotesk" pitchFamily="34" charset="-120"/>
              </a:rPr>
              <a:t>Most new signups never start KYC</a:t>
            </a:r>
            <a:endParaRPr lang="en-US" sz="3600" dirty="0"/>
          </a:p>
        </p:txBody>
      </p:sp>
      <p:sp>
        <p:nvSpPr>
          <p:cNvPr id="3" name="Text 1"/>
          <p:cNvSpPr/>
          <p:nvPr/>
        </p:nvSpPr>
        <p:spPr>
          <a:xfrm>
            <a:off x="812800" y="14172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People who signed up 1 Dec – 29 Feb, so everyone had at least 30 days to send</a:t>
            </a:r>
            <a:endParaRPr lang="en-US" sz="1200" dirty="0"/>
          </a:p>
        </p:txBody>
      </p:sp>
      <p:sp>
        <p:nvSpPr>
          <p:cNvPr id="4" name="Text 2"/>
          <p:cNvSpPr/>
          <p:nvPr/>
        </p:nvSpPr>
        <p:spPr>
          <a:xfrm>
            <a:off x="812800" y="1932880"/>
            <a:ext cx="18313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Signed up</a:t>
            </a:r>
            <a:endParaRPr lang="en-US" sz="1600" dirty="0"/>
          </a:p>
        </p:txBody>
      </p:sp>
      <p:sp>
        <p:nvSpPr>
          <p:cNvPr id="5" name="Shape 3"/>
          <p:cNvSpPr/>
          <p:nvPr/>
        </p:nvSpPr>
        <p:spPr>
          <a:xfrm>
            <a:off x="2743200" y="1884611"/>
            <a:ext cx="4826000" cy="381000"/>
          </a:xfrm>
          <a:prstGeom prst="roundRect">
            <a:avLst>
              <a:gd name="adj" fmla="val 6667"/>
            </a:avLst>
          </a:prstGeom>
          <a:solidFill>
            <a:srgbClr val="A3A9B3"/>
          </a:solidFill>
          <a:ln/>
        </p:spPr>
      </p:sp>
      <p:sp>
        <p:nvSpPr>
          <p:cNvPr id="6" name="Text 4"/>
          <p:cNvSpPr/>
          <p:nvPr/>
        </p:nvSpPr>
        <p:spPr>
          <a:xfrm>
            <a:off x="4821039" y="1932880"/>
            <a:ext cx="72112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16,333</a:t>
            </a:r>
            <a:endParaRPr lang="en-US" sz="1600" dirty="0"/>
          </a:p>
        </p:txBody>
      </p:sp>
      <p:sp>
        <p:nvSpPr>
          <p:cNvPr id="7" name="Text 5"/>
          <p:cNvSpPr/>
          <p:nvPr/>
        </p:nvSpPr>
        <p:spPr>
          <a:xfrm>
            <a:off x="7721600" y="1932880"/>
            <a:ext cx="60493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100%</a:t>
            </a:r>
            <a:endParaRPr lang="en-US" sz="1600" dirty="0"/>
          </a:p>
        </p:txBody>
      </p:sp>
      <p:sp>
        <p:nvSpPr>
          <p:cNvPr id="8" name="Text 6"/>
          <p:cNvSpPr/>
          <p:nvPr/>
        </p:nvSpPr>
        <p:spPr>
          <a:xfrm>
            <a:off x="812800" y="2440880"/>
            <a:ext cx="18313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Completed profile</a:t>
            </a:r>
            <a:endParaRPr lang="en-US" sz="1600" dirty="0"/>
          </a:p>
        </p:txBody>
      </p:sp>
      <p:sp>
        <p:nvSpPr>
          <p:cNvPr id="9" name="Shape 7"/>
          <p:cNvSpPr/>
          <p:nvPr/>
        </p:nvSpPr>
        <p:spPr>
          <a:xfrm>
            <a:off x="3708400" y="2392611"/>
            <a:ext cx="2895600" cy="381000"/>
          </a:xfrm>
          <a:prstGeom prst="roundRect">
            <a:avLst>
              <a:gd name="adj" fmla="val 6667"/>
            </a:avLst>
          </a:prstGeom>
          <a:solidFill>
            <a:srgbClr val="A3A9B3"/>
          </a:solidFill>
          <a:ln/>
        </p:spPr>
      </p:sp>
      <p:sp>
        <p:nvSpPr>
          <p:cNvPr id="10" name="Text 8"/>
          <p:cNvSpPr/>
          <p:nvPr/>
        </p:nvSpPr>
        <p:spPr>
          <a:xfrm>
            <a:off x="4881959" y="2440880"/>
            <a:ext cx="5992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9,806</a:t>
            </a:r>
            <a:endParaRPr lang="en-US" sz="1600" dirty="0"/>
          </a:p>
        </p:txBody>
      </p:sp>
      <p:sp>
        <p:nvSpPr>
          <p:cNvPr id="11" name="Text 9"/>
          <p:cNvSpPr/>
          <p:nvPr/>
        </p:nvSpPr>
        <p:spPr>
          <a:xfrm>
            <a:off x="7721600" y="2440880"/>
            <a:ext cx="48304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60%</a:t>
            </a:r>
            <a:endParaRPr lang="en-US" sz="1600" dirty="0"/>
          </a:p>
        </p:txBody>
      </p:sp>
      <p:sp>
        <p:nvSpPr>
          <p:cNvPr id="12" name="Text 10"/>
          <p:cNvSpPr/>
          <p:nvPr/>
        </p:nvSpPr>
        <p:spPr>
          <a:xfrm>
            <a:off x="812800" y="2948880"/>
            <a:ext cx="18313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Started KYC</a:t>
            </a:r>
            <a:endParaRPr lang="en-US" sz="1600" dirty="0"/>
          </a:p>
        </p:txBody>
      </p:sp>
      <p:sp>
        <p:nvSpPr>
          <p:cNvPr id="13" name="Shape 11"/>
          <p:cNvSpPr/>
          <p:nvPr/>
        </p:nvSpPr>
        <p:spPr>
          <a:xfrm>
            <a:off x="4191000" y="2900611"/>
            <a:ext cx="1930400" cy="381000"/>
          </a:xfrm>
          <a:prstGeom prst="roundRect">
            <a:avLst>
              <a:gd name="adj" fmla="val 6667"/>
            </a:avLst>
          </a:prstGeom>
          <a:solidFill>
            <a:srgbClr val="E66227"/>
          </a:solidFill>
          <a:ln/>
        </p:spPr>
      </p:sp>
      <p:sp>
        <p:nvSpPr>
          <p:cNvPr id="14" name="Text 12"/>
          <p:cNvSpPr/>
          <p:nvPr/>
        </p:nvSpPr>
        <p:spPr>
          <a:xfrm>
            <a:off x="4881959" y="2948880"/>
            <a:ext cx="5992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DF8"/>
                </a:solidFill>
                <a:latin typeface="IBM Plex Sans" pitchFamily="34" charset="0"/>
                <a:ea typeface="IBM Plex Sans" pitchFamily="34" charset="-122"/>
                <a:cs typeface="IBM Plex Sans" pitchFamily="34" charset="-120"/>
              </a:rPr>
              <a:t>6,533</a:t>
            </a:r>
            <a:endParaRPr lang="en-US" sz="1600" dirty="0"/>
          </a:p>
        </p:txBody>
      </p:sp>
      <p:sp>
        <p:nvSpPr>
          <p:cNvPr id="15" name="Text 13"/>
          <p:cNvSpPr/>
          <p:nvPr/>
        </p:nvSpPr>
        <p:spPr>
          <a:xfrm>
            <a:off x="7721600" y="2948880"/>
            <a:ext cx="217435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40%</a:t>
            </a:r>
            <a:r>
              <a:rPr lang="en-US" sz="1600" dirty="0">
                <a:solidFill>
                  <a:srgbClr val="28292B"/>
                </a:solidFill>
                <a:latin typeface="IBM Plex Sans" pitchFamily="34" charset="0"/>
                <a:ea typeface="IBM Plex Sans" pitchFamily="34" charset="-122"/>
                <a:cs typeface="IBM Plex Sans" pitchFamily="34" charset="-120"/>
              </a:rPr>
              <a:t> · </a:t>
            </a:r>
            <a:r>
              <a:rPr lang="en-US" sz="1600" b="1" dirty="0">
                <a:solidFill>
                  <a:srgbClr val="B8471A"/>
                </a:solidFill>
                <a:latin typeface="IBM Plex Sans" pitchFamily="34" charset="0"/>
                <a:ea typeface="IBM Plex Sans" pitchFamily="34" charset="-122"/>
                <a:cs typeface="IBM Plex Sans" pitchFamily="34" charset="-120"/>
              </a:rPr>
              <a:t>60% never start</a:t>
            </a:r>
            <a:endParaRPr lang="en-US" sz="1600" dirty="0"/>
          </a:p>
        </p:txBody>
      </p:sp>
      <p:sp>
        <p:nvSpPr>
          <p:cNvPr id="16" name="Text 14"/>
          <p:cNvSpPr/>
          <p:nvPr/>
        </p:nvSpPr>
        <p:spPr>
          <a:xfrm>
            <a:off x="812800" y="3456880"/>
            <a:ext cx="18313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KYC passed</a:t>
            </a:r>
            <a:endParaRPr lang="en-US" sz="1600" dirty="0"/>
          </a:p>
        </p:txBody>
      </p:sp>
      <p:sp>
        <p:nvSpPr>
          <p:cNvPr id="17" name="Shape 15"/>
          <p:cNvSpPr/>
          <p:nvPr/>
        </p:nvSpPr>
        <p:spPr>
          <a:xfrm>
            <a:off x="4641850" y="3408611"/>
            <a:ext cx="1028700" cy="381000"/>
          </a:xfrm>
          <a:prstGeom prst="roundRect">
            <a:avLst>
              <a:gd name="adj" fmla="val 6667"/>
            </a:avLst>
          </a:prstGeom>
          <a:solidFill>
            <a:srgbClr val="A3A9B3"/>
          </a:solidFill>
          <a:ln/>
        </p:spPr>
      </p:sp>
      <p:sp>
        <p:nvSpPr>
          <p:cNvPr id="18" name="Text 16"/>
          <p:cNvSpPr/>
          <p:nvPr/>
        </p:nvSpPr>
        <p:spPr>
          <a:xfrm>
            <a:off x="4881959" y="3456880"/>
            <a:ext cx="5992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3,477</a:t>
            </a:r>
            <a:endParaRPr lang="en-US" sz="1600" dirty="0"/>
          </a:p>
        </p:txBody>
      </p:sp>
      <p:sp>
        <p:nvSpPr>
          <p:cNvPr id="19" name="Text 17"/>
          <p:cNvSpPr/>
          <p:nvPr/>
        </p:nvSpPr>
        <p:spPr>
          <a:xfrm>
            <a:off x="7721600" y="3456880"/>
            <a:ext cx="48304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21%</a:t>
            </a:r>
            <a:endParaRPr lang="en-US" sz="1600" dirty="0"/>
          </a:p>
        </p:txBody>
      </p:sp>
      <p:sp>
        <p:nvSpPr>
          <p:cNvPr id="20" name="Text 18"/>
          <p:cNvSpPr/>
          <p:nvPr/>
        </p:nvSpPr>
        <p:spPr>
          <a:xfrm>
            <a:off x="812800" y="3964880"/>
            <a:ext cx="18313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Sent money</a:t>
            </a:r>
            <a:endParaRPr lang="en-US" sz="1600" dirty="0"/>
          </a:p>
        </p:txBody>
      </p:sp>
      <p:sp>
        <p:nvSpPr>
          <p:cNvPr id="21" name="Shape 19"/>
          <p:cNvSpPr/>
          <p:nvPr/>
        </p:nvSpPr>
        <p:spPr>
          <a:xfrm>
            <a:off x="5000625" y="3916611"/>
            <a:ext cx="311150" cy="381000"/>
          </a:xfrm>
          <a:prstGeom prst="roundRect">
            <a:avLst>
              <a:gd name="adj" fmla="val 8163"/>
            </a:avLst>
          </a:prstGeom>
          <a:solidFill>
            <a:srgbClr val="434C54"/>
          </a:solidFill>
          <a:ln/>
        </p:spPr>
      </p:sp>
      <p:sp>
        <p:nvSpPr>
          <p:cNvPr id="22" name="Text 20"/>
          <p:cNvSpPr/>
          <p:nvPr/>
        </p:nvSpPr>
        <p:spPr>
          <a:xfrm>
            <a:off x="7721600" y="3964880"/>
            <a:ext cx="124340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1,046 · 6.4%</a:t>
            </a:r>
            <a:endParaRPr lang="en-US" sz="1600" dirty="0"/>
          </a:p>
        </p:txBody>
      </p:sp>
      <p:sp>
        <p:nvSpPr>
          <p:cNvPr id="23" name="Text 21"/>
          <p:cNvSpPr/>
          <p:nvPr/>
        </p:nvSpPr>
        <p:spPr>
          <a:xfrm>
            <a:off x="812800" y="4551611"/>
            <a:ext cx="10464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The biggest loss is before KYC begins. After passing KYC, only 3 in 10 go on to send.</a:t>
            </a:r>
            <a:endParaRPr lang="en-US" sz="1600" dirty="0"/>
          </a:p>
        </p:txBody>
      </p:sp>
      <p:sp>
        <p:nvSpPr>
          <p:cNvPr id="24" name="Text 2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Median 15 days from signup to first transfer. March signups are too recent to include.</a:t>
            </a:r>
            <a:endParaRPr lang="en-US" sz="1200" dirty="0"/>
          </a:p>
        </p:txBody>
      </p:sp>
      <p:pic>
        <p:nvPicPr>
          <p:cNvPr id="25" name="Image 0" descr="SendFast logo">    </p:cNvPr>
          <p:cNvPicPr>
            <a:picLocks noChangeAspect="1"/>
          </p:cNvPicPr>
          <p:nvPr/>
        </p:nvPicPr>
        <p:blipFill>
          <a:blip r:embed="rId1"/>
          <a:srcRect l="0" r="0" t="-34" b="-34"/>
          <a:stretch/>
        </p:blipFill>
        <p:spPr>
          <a:xfrm>
            <a:off x="9334500" y="6273800"/>
            <a:ext cx="1384300" cy="203200"/>
          </a:xfrm>
          <a:prstGeom prst="rect">
            <a:avLst/>
          </a:prstGeom>
        </p:spPr>
      </p:pic>
      <p:sp>
        <p:nvSpPr>
          <p:cNvPr id="26" name="Text 2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8292B"/>
                </a:solidFill>
                <a:latin typeface="Space Grotesk" pitchFamily="34" charset="0"/>
                <a:ea typeface="Space Grotesk" pitchFamily="34" charset="-122"/>
                <a:cs typeface="Space Grotesk" pitchFamily="34" charset="-120"/>
              </a:rPr>
              <a:t>Referral works best where the leak is</a:t>
            </a:r>
            <a:endParaRPr lang="en-US" sz="3600" dirty="0"/>
          </a:p>
        </p:txBody>
      </p:sp>
      <p:sp>
        <p:nvSpPr>
          <p:cNvPr id="3" name="Text 1"/>
          <p:cNvSpPr/>
          <p:nvPr/>
        </p:nvSpPr>
        <p:spPr>
          <a:xfrm>
            <a:off x="812800" y="16204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4C54"/>
                </a:solidFill>
                <a:latin typeface="IBM Plex Sans" pitchFamily="34" charset="0"/>
                <a:ea typeface="IBM Plex Sans" pitchFamily="34" charset="-122"/>
                <a:cs typeface="IBM Plex Sans" pitchFamily="34" charset="-120"/>
              </a:rPr>
              <a:t>NIGERIA · SHARE OF SIGNUPS WHO SENT MONEY</a:t>
            </a:r>
            <a:endParaRPr lang="en-US" sz="1200" dirty="0"/>
          </a:p>
        </p:txBody>
      </p:sp>
      <p:sp>
        <p:nvSpPr>
          <p:cNvPr id="4" name="Text 2"/>
          <p:cNvSpPr/>
          <p:nvPr/>
        </p:nvSpPr>
        <p:spPr>
          <a:xfrm>
            <a:off x="812800" y="1970980"/>
            <a:ext cx="22237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Referred</a:t>
            </a:r>
            <a:endParaRPr lang="en-US" sz="1600" dirty="0"/>
          </a:p>
        </p:txBody>
      </p:sp>
      <p:sp>
        <p:nvSpPr>
          <p:cNvPr id="5" name="Shape 3"/>
          <p:cNvSpPr/>
          <p:nvPr/>
        </p:nvSpPr>
        <p:spPr>
          <a:xfrm>
            <a:off x="3124200" y="1935411"/>
            <a:ext cx="2254250" cy="355600"/>
          </a:xfrm>
          <a:prstGeom prst="roundRect">
            <a:avLst>
              <a:gd name="adj" fmla="val 7143"/>
            </a:avLst>
          </a:prstGeom>
          <a:solidFill>
            <a:srgbClr val="434C54"/>
          </a:solidFill>
          <a:ln/>
        </p:spPr>
      </p:sp>
      <p:sp>
        <p:nvSpPr>
          <p:cNvPr id="6" name="Text 4"/>
          <p:cNvSpPr/>
          <p:nvPr/>
        </p:nvSpPr>
        <p:spPr>
          <a:xfrm>
            <a:off x="5530850" y="1970980"/>
            <a:ext cx="238871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10.7% </a:t>
            </a:r>
            <a:r>
              <a:rPr lang="en-US" sz="1600" b="1" dirty="0">
                <a:solidFill>
                  <a:srgbClr val="434C54"/>
                </a:solidFill>
                <a:latin typeface="IBM Plex Sans" pitchFamily="34" charset="0"/>
                <a:ea typeface="IBM Plex Sans" pitchFamily="34" charset="-122"/>
                <a:cs typeface="IBM Plex Sans" pitchFamily="34" charset="-120"/>
              </a:rPr>
              <a:t>(5.6× more likely)</a:t>
            </a:r>
            <a:endParaRPr lang="en-US" sz="1600" dirty="0"/>
          </a:p>
        </p:txBody>
      </p:sp>
      <p:sp>
        <p:nvSpPr>
          <p:cNvPr id="7" name="Text 5"/>
          <p:cNvSpPr/>
          <p:nvPr/>
        </p:nvSpPr>
        <p:spPr>
          <a:xfrm>
            <a:off x="812800" y="2428180"/>
            <a:ext cx="22237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Not referred</a:t>
            </a:r>
            <a:endParaRPr lang="en-US" sz="1600" dirty="0"/>
          </a:p>
        </p:txBody>
      </p:sp>
      <p:sp>
        <p:nvSpPr>
          <p:cNvPr id="8" name="Shape 6"/>
          <p:cNvSpPr/>
          <p:nvPr/>
        </p:nvSpPr>
        <p:spPr>
          <a:xfrm>
            <a:off x="3124200" y="2392611"/>
            <a:ext cx="400050" cy="355600"/>
          </a:xfrm>
          <a:prstGeom prst="roundRect">
            <a:avLst>
              <a:gd name="adj" fmla="val 7143"/>
            </a:avLst>
          </a:prstGeom>
          <a:solidFill>
            <a:srgbClr val="A3A9B3"/>
          </a:solidFill>
          <a:ln/>
        </p:spPr>
      </p:sp>
      <p:sp>
        <p:nvSpPr>
          <p:cNvPr id="9" name="Text 7"/>
          <p:cNvSpPr/>
          <p:nvPr/>
        </p:nvSpPr>
        <p:spPr>
          <a:xfrm>
            <a:off x="3676650" y="2428180"/>
            <a:ext cx="53831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1.9%</a:t>
            </a:r>
            <a:endParaRPr lang="en-US" sz="1600" dirty="0"/>
          </a:p>
        </p:txBody>
      </p:sp>
      <p:sp>
        <p:nvSpPr>
          <p:cNvPr id="10" name="Text 8"/>
          <p:cNvSpPr/>
          <p:nvPr/>
        </p:nvSpPr>
        <p:spPr>
          <a:xfrm>
            <a:off x="812800" y="300221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4C54"/>
                </a:solidFill>
                <a:latin typeface="IBM Plex Sans" pitchFamily="34" charset="0"/>
                <a:ea typeface="IBM Plex Sans" pitchFamily="34" charset="-122"/>
                <a:cs typeface="IBM Plex Sans" pitchFamily="34" charset="-120"/>
              </a:rPr>
              <a:t>CANADA · SHARE OF SIGNUPS WHO SENT MONEY</a:t>
            </a:r>
            <a:endParaRPr lang="en-US" sz="1200" dirty="0"/>
          </a:p>
        </p:txBody>
      </p:sp>
      <p:sp>
        <p:nvSpPr>
          <p:cNvPr id="11" name="Text 9"/>
          <p:cNvSpPr/>
          <p:nvPr/>
        </p:nvSpPr>
        <p:spPr>
          <a:xfrm>
            <a:off x="812800" y="3352701"/>
            <a:ext cx="22237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Referred</a:t>
            </a:r>
            <a:endParaRPr lang="en-US" sz="1600" dirty="0"/>
          </a:p>
        </p:txBody>
      </p:sp>
      <p:sp>
        <p:nvSpPr>
          <p:cNvPr id="12" name="Shape 10"/>
          <p:cNvSpPr/>
          <p:nvPr/>
        </p:nvSpPr>
        <p:spPr>
          <a:xfrm>
            <a:off x="3124200" y="3317131"/>
            <a:ext cx="5715000" cy="355600"/>
          </a:xfrm>
          <a:prstGeom prst="roundRect">
            <a:avLst>
              <a:gd name="adj" fmla="val 7143"/>
            </a:avLst>
          </a:prstGeom>
          <a:solidFill>
            <a:srgbClr val="434C54"/>
          </a:solidFill>
          <a:ln/>
        </p:spPr>
      </p:sp>
      <p:sp>
        <p:nvSpPr>
          <p:cNvPr id="13" name="Text 11"/>
          <p:cNvSpPr/>
          <p:nvPr/>
        </p:nvSpPr>
        <p:spPr>
          <a:xfrm>
            <a:off x="8991600" y="3352701"/>
            <a:ext cx="238871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27.1% </a:t>
            </a:r>
            <a:r>
              <a:rPr lang="en-US" sz="1600" b="1" dirty="0">
                <a:solidFill>
                  <a:srgbClr val="434C54"/>
                </a:solidFill>
                <a:latin typeface="IBM Plex Sans" pitchFamily="34" charset="0"/>
                <a:ea typeface="IBM Plex Sans" pitchFamily="34" charset="-122"/>
                <a:cs typeface="IBM Plex Sans" pitchFamily="34" charset="-120"/>
              </a:rPr>
              <a:t>(1.7× more likely)</a:t>
            </a:r>
            <a:endParaRPr lang="en-US" sz="1600" dirty="0"/>
          </a:p>
        </p:txBody>
      </p:sp>
      <p:sp>
        <p:nvSpPr>
          <p:cNvPr id="14" name="Text 12"/>
          <p:cNvSpPr/>
          <p:nvPr/>
        </p:nvSpPr>
        <p:spPr>
          <a:xfrm>
            <a:off x="812800" y="3809901"/>
            <a:ext cx="22237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92B"/>
                </a:solidFill>
                <a:latin typeface="IBM Plex Sans" pitchFamily="34" charset="0"/>
                <a:ea typeface="IBM Plex Sans" pitchFamily="34" charset="-122"/>
                <a:cs typeface="IBM Plex Sans" pitchFamily="34" charset="-120"/>
              </a:rPr>
              <a:t>Not referred</a:t>
            </a:r>
            <a:endParaRPr lang="en-US" sz="1600" dirty="0"/>
          </a:p>
        </p:txBody>
      </p:sp>
      <p:sp>
        <p:nvSpPr>
          <p:cNvPr id="15" name="Shape 13"/>
          <p:cNvSpPr/>
          <p:nvPr/>
        </p:nvSpPr>
        <p:spPr>
          <a:xfrm>
            <a:off x="3124200" y="3774331"/>
            <a:ext cx="3270250" cy="355600"/>
          </a:xfrm>
          <a:prstGeom prst="roundRect">
            <a:avLst>
              <a:gd name="adj" fmla="val 7143"/>
            </a:avLst>
          </a:prstGeom>
          <a:solidFill>
            <a:srgbClr val="A3A9B3"/>
          </a:solidFill>
          <a:ln/>
        </p:spPr>
      </p:sp>
      <p:sp>
        <p:nvSpPr>
          <p:cNvPr id="16" name="Text 14"/>
          <p:cNvSpPr/>
          <p:nvPr/>
        </p:nvSpPr>
        <p:spPr>
          <a:xfrm>
            <a:off x="6546850" y="3809901"/>
            <a:ext cx="66020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15.5%</a:t>
            </a:r>
            <a:endParaRPr lang="en-US" sz="1600" dirty="0"/>
          </a:p>
        </p:txBody>
      </p:sp>
      <p:sp>
        <p:nvSpPr>
          <p:cNvPr id="17" name="Text 15"/>
          <p:cNvSpPr/>
          <p:nvPr/>
        </p:nvSpPr>
        <p:spPr>
          <a:xfrm>
            <a:off x="812800" y="4434731"/>
            <a:ext cx="104648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8292B"/>
                </a:solidFill>
                <a:latin typeface="IBM Plex Sans" pitchFamily="34" charset="0"/>
                <a:ea typeface="IBM Plex Sans" pitchFamily="34" charset="-122"/>
                <a:cs typeface="IBM Plex Sans" pitchFamily="34" charset="-120"/>
              </a:rPr>
              <a:t>76% of referred Nigerians start KYC, against 28.5% of other Nigerians. Referral gets people through verification. It does not change how long they keep sending.</a:t>
            </a:r>
            <a:endParaRPr lang="en-US" sz="1600" dirty="0"/>
          </a:p>
        </p:txBody>
      </p:sp>
      <p:sp>
        <p:nvSpPr>
          <p:cNvPr id="18" name="Text 1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Signups 1 Dec – 29 Feb, compared within country (referred signups are 71% Canadian).</a:t>
            </a:r>
            <a:endParaRPr lang="en-US" sz="1200" dirty="0"/>
          </a:p>
        </p:txBody>
      </p:sp>
      <p:pic>
        <p:nvPicPr>
          <p:cNvPr id="19" name="Image 0" descr="SendFast logo">    </p:cNvPr>
          <p:cNvPicPr>
            <a:picLocks noChangeAspect="1"/>
          </p:cNvPicPr>
          <p:nvPr/>
        </p:nvPicPr>
        <p:blipFill>
          <a:blip r:embed="rId1"/>
          <a:srcRect l="0" r="0" t="-34" b="-34"/>
          <a:stretch/>
        </p:blipFill>
        <p:spPr>
          <a:xfrm>
            <a:off x="9334500" y="6273800"/>
            <a:ext cx="1384300" cy="203200"/>
          </a:xfrm>
          <a:prstGeom prst="rect">
            <a:avLst/>
          </a:prstGeom>
        </p:spPr>
      </p:pic>
      <p:sp>
        <p:nvSpPr>
          <p:cNvPr id="20" name="Text 17"/>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8292B"/>
                </a:solidFill>
                <a:latin typeface="Space Grotesk" pitchFamily="34" charset="0"/>
                <a:ea typeface="Space Grotesk" pitchFamily="34" charset="-122"/>
                <a:cs typeface="Space Grotesk" pitchFamily="34" charset="-120"/>
              </a:rPr>
              <a:t>Three actions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2184003"/>
        </p:xfrm>
        <a:graphic>
          <a:graphicData uri="http://schemas.openxmlformats.org/drawingml/2006/table">
            <a:tbl>
              <a:tblPr/>
              <a:tblGrid>
                <a:gridCol w="4010406"/>
                <a:gridCol w="3588258"/>
                <a:gridCol w="2955036"/>
              </a:tblGrid>
              <a:tr h="332680">
                <a:tc>
                  <a:txBody>
                    <a:bodyPr/>
                    <a:lstStyle/>
                    <a:p>
                      <a:pPr indent="0" marL="0">
                        <a:lnSpc>
                          <a:spcPts val="1680"/>
                        </a:lnSpc>
                        <a:buNone/>
                      </a:pPr>
                      <a:r>
                        <a:rPr lang="en-US" sz="1200" b="1" dirty="0">
                          <a:solidFill>
                            <a:srgbClr val="28292B"/>
                          </a:solidFill>
                          <a:latin typeface="IBM Plex Sans" pitchFamily="34" charset="0"/>
                          <a:ea typeface="IBM Plex Sans" pitchFamily="34" charset="-122"/>
                          <a:cs typeface="IBM Plex Sans" pitchFamily="34" charset="-120"/>
                        </a:rPr>
                        <a:t>Action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28292B"/>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28292B"/>
                          </a:solidFill>
                          <a:latin typeface="IBM Plex Sans" pitchFamily="34" charset="0"/>
                          <a:ea typeface="IBM Plex Sans" pitchFamily="34" charset="-122"/>
                          <a:cs typeface="IBM Plex Sans" pitchFamily="34" charset="-120"/>
                        </a:rPr>
                        <a:t>We'll know it works 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546001">
                <a:tc>
                  <a:txBody>
                    <a:bodyPr/>
                    <a:lstStyle/>
                    <a:p>
                      <a:pPr indent="0" marL="0">
                        <a:lnSpc>
                          <a:spcPts val="1680"/>
                        </a:lnSpc>
                        <a:buNone/>
                      </a:pPr>
                      <a:r>
                        <a:rPr lang="en-US" sz="1200" dirty="0">
                          <a:solidFill>
                            <a:srgbClr val="28292B"/>
                          </a:solidFill>
                          <a:latin typeface="IBM Plex Sans" pitchFamily="34" charset="0"/>
                          <a:ea typeface="IBM Plex Sans" pitchFamily="34" charset="-122"/>
                          <a:cs typeface="IBM Plex Sans" pitchFamily="34" charset="-120"/>
                        </a:rPr>
                        <a:t>1. Get Nigerian signups into KYC. Start it at signup; list documents up front.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28292B"/>
                          </a:solidFill>
                          <a:latin typeface="IBM Plex Sans" pitchFamily="34" charset="0"/>
                          <a:ea typeface="IBM Plex Sans" pitchFamily="34" charset="-122"/>
                          <a:cs typeface="IBM Plex Sans" pitchFamily="34" charset="-120"/>
                        </a:rPr>
                        <a:t>70% of Nigerian signups never start KYC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28292B"/>
                          </a:solidFill>
                          <a:latin typeface="IBM Plex Sans" pitchFamily="34" charset="0"/>
                          <a:ea typeface="IBM Plex Sans" pitchFamily="34" charset="-122"/>
                          <a:cs typeface="IBM Plex Sans" pitchFamily="34" charset="-120"/>
                        </a:rPr>
                        <a:t>More start KYC within 14 days (28.5% ever start 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46001">
                <a:tc>
                  <a:txBody>
                    <a:bodyPr/>
                    <a:lstStyle/>
                    <a:p>
                      <a:pPr indent="0" marL="0">
                        <a:lnSpc>
                          <a:spcPts val="1680"/>
                        </a:lnSpc>
                        <a:buNone/>
                      </a:pPr>
                      <a:r>
                        <a:rPr lang="en-US" sz="1200" dirty="0">
                          <a:solidFill>
                            <a:srgbClr val="28292B"/>
                          </a:solidFill>
                          <a:latin typeface="IBM Plex Sans" pitchFamily="34" charset="0"/>
                          <a:ea typeface="IBM Plex Sans" pitchFamily="34" charset="-122"/>
                          <a:cs typeface="IBM Plex Sans" pitchFamily="34" charset="-120"/>
                        </a:rPr>
                        <a:t>2. Use referrals to drive KYC. Pay the reward once the invitee passes KYC and makes a first transfer.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28292B"/>
                          </a:solidFill>
                          <a:latin typeface="IBM Plex Sans" pitchFamily="34" charset="0"/>
                          <a:ea typeface="IBM Plex Sans" pitchFamily="34" charset="-122"/>
                          <a:cs typeface="IBM Plex Sans" pitchFamily="34" charset="-120"/>
                        </a:rPr>
                        <a:t>Referred Nigerians start KYC at 76% and send 5.6× as often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28292B"/>
                          </a:solidFill>
                          <a:latin typeface="IBM Plex Sans" pitchFamily="34" charset="0"/>
                          <a:ea typeface="IBM Plex Sans" pitchFamily="34" charset="-122"/>
                          <a:cs typeface="IBM Plex Sans" pitchFamily="34" charset="-120"/>
                        </a:rPr>
                        <a:t>More referred signups pass KYC and send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759321">
                <a:tc>
                  <a:txBody>
                    <a:bodyPr/>
                    <a:lstStyle/>
                    <a:p>
                      <a:pPr indent="0" marL="0">
                        <a:lnSpc>
                          <a:spcPts val="1680"/>
                        </a:lnSpc>
                        <a:buNone/>
                      </a:pPr>
                      <a:r>
                        <a:rPr lang="en-US" sz="1200" dirty="0">
                          <a:solidFill>
                            <a:srgbClr val="28292B"/>
                          </a:solidFill>
                          <a:latin typeface="IBM Plex Sans" pitchFamily="34" charset="0"/>
                          <a:ea typeface="IBM Plex Sans" pitchFamily="34" charset="-122"/>
                          <a:cs typeface="IBM Plex Sans" pitchFamily="34" charset="-120"/>
                        </a:rPr>
                        <a:t>3. Protect NGN→CAD tuition payments. Run targeted lifecycle campaigns for school-related senders; look after top senders.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28292B"/>
                          </a:solidFill>
                          <a:latin typeface="IBM Plex Sans" pitchFamily="34" charset="0"/>
                          <a:ea typeface="IBM Plex Sans" pitchFamily="34" charset="-122"/>
                          <a:cs typeface="IBM Plex Sans" pitchFamily="34" charset="-120"/>
                        </a:rPr>
                        <a:t>48% of value; 40% school-related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28292B"/>
                          </a:solidFill>
                          <a:latin typeface="IBM Plex Sans" pitchFamily="34" charset="0"/>
                          <a:ea typeface="IBM Plex Sans" pitchFamily="34" charset="-122"/>
                          <a:cs typeface="IBM Plex Sans" pitchFamily="34" charset="-120"/>
                        </a:rPr>
                        <a:t>NGN→CAD value holds; top senders stay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4" name="Text 1"/>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Actions 1–2 turn signups into senders; 3 protects value.</a:t>
            </a:r>
            <a:endParaRPr lang="en-US" sz="1200" dirty="0"/>
          </a:p>
        </p:txBody>
      </p:sp>
      <p:pic>
        <p:nvPicPr>
          <p:cNvPr id="5" name="Image 0" descr="SendFast logo">    </p:cNvPr>
          <p:cNvPicPr>
            <a:picLocks noChangeAspect="1"/>
          </p:cNvPicPr>
          <p:nvPr/>
        </p:nvPicPr>
        <p:blipFill>
          <a:blip r:embed="rId1"/>
          <a:srcRect l="0" r="0" t="-34" b="-34"/>
          <a:stretch/>
        </p:blipFill>
        <p:spPr>
          <a:xfrm>
            <a:off x="9334500" y="6273800"/>
            <a:ext cx="1384300" cy="203200"/>
          </a:xfrm>
          <a:prstGeom prst="rect">
            <a:avLst/>
          </a:prstGeom>
        </p:spPr>
      </p:pic>
      <p:sp>
        <p:nvSpPr>
          <p:cNvPr id="6" name="Text 2"/>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8292B"/>
                </a:solidFill>
                <a:latin typeface="Space Grotesk" pitchFamily="34" charset="0"/>
                <a:ea typeface="Space Grotesk" pitchFamily="34" charset="-122"/>
                <a:cs typeface="Space Grotesk" pitchFamily="34" charset="-120"/>
              </a:rPr>
              <a:t>What the data can and cannot tell us</a:t>
            </a:r>
            <a:endParaRPr lang="en-US" sz="3600" dirty="0"/>
          </a:p>
        </p:txBody>
      </p:sp>
      <p:sp>
        <p:nvSpPr>
          <p:cNvPr id="3" name="Shape 1"/>
          <p:cNvSpPr/>
          <p:nvPr/>
        </p:nvSpPr>
        <p:spPr>
          <a:xfrm>
            <a:off x="815975" y="1623665"/>
            <a:ext cx="5175250" cy="1474341"/>
          </a:xfrm>
          <a:prstGeom prst="roundRect">
            <a:avLst>
              <a:gd name="adj" fmla="val 6676"/>
            </a:avLst>
          </a:prstGeom>
          <a:solidFill>
            <a:srgbClr val="FFFDF8"/>
          </a:solidFill>
          <a:ln w="6350">
            <a:solidFill>
              <a:srgbClr val="DEDAD0"/>
            </a:solidFill>
            <a:prstDash val="solid"/>
          </a:ln>
        </p:spPr>
      </p:sp>
      <p:sp>
        <p:nvSpPr>
          <p:cNvPr id="4" name="Text 2"/>
          <p:cNvSpPr/>
          <p:nvPr/>
        </p:nvSpPr>
        <p:spPr>
          <a:xfrm>
            <a:off x="1073150" y="1880840"/>
            <a:ext cx="48007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92B"/>
                </a:solidFill>
                <a:latin typeface="IBM Plex Sans" pitchFamily="34" charset="0"/>
                <a:ea typeface="IBM Plex Sans" pitchFamily="34" charset="-122"/>
                <a:cs typeface="IBM Plex Sans" pitchFamily="34" charset="-120"/>
              </a:rPr>
              <a:t>The signup data is a slice</a:t>
            </a:r>
            <a:endParaRPr lang="en-US" sz="1600" dirty="0"/>
          </a:p>
        </p:txBody>
      </p:sp>
      <p:sp>
        <p:nvSpPr>
          <p:cNvPr id="5" name="Text 3"/>
          <p:cNvSpPr/>
          <p:nvPr/>
        </p:nvSpPr>
        <p:spPr>
          <a:xfrm>
            <a:off x="1073150" y="2200870"/>
            <a:ext cx="480072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It covers people who signed up Dec–Mar; 1,187 of the 16,444 senders are in it. Funnel and referral results describe these signups, not the whole base.</a:t>
            </a:r>
            <a:endParaRPr lang="en-US" sz="1200" dirty="0"/>
          </a:p>
        </p:txBody>
      </p:sp>
      <p:sp>
        <p:nvSpPr>
          <p:cNvPr id="6" name="Shape 4"/>
          <p:cNvSpPr/>
          <p:nvPr/>
        </p:nvSpPr>
        <p:spPr>
          <a:xfrm>
            <a:off x="6200775" y="1623665"/>
            <a:ext cx="5175250" cy="1474341"/>
          </a:xfrm>
          <a:prstGeom prst="roundRect">
            <a:avLst>
              <a:gd name="adj" fmla="val 6676"/>
            </a:avLst>
          </a:prstGeom>
          <a:solidFill>
            <a:srgbClr val="FFFDF8"/>
          </a:solidFill>
          <a:ln w="6350">
            <a:solidFill>
              <a:srgbClr val="DEDAD0"/>
            </a:solidFill>
            <a:prstDash val="solid"/>
          </a:ln>
        </p:spPr>
      </p:sp>
      <p:sp>
        <p:nvSpPr>
          <p:cNvPr id="7" name="Text 5"/>
          <p:cNvSpPr/>
          <p:nvPr/>
        </p:nvSpPr>
        <p:spPr>
          <a:xfrm>
            <a:off x="6457950" y="1880840"/>
            <a:ext cx="48007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92B"/>
                </a:solidFill>
                <a:latin typeface="IBM Plex Sans" pitchFamily="34" charset="0"/>
                <a:ea typeface="IBM Plex Sans" pitchFamily="34" charset="-122"/>
                <a:cs typeface="IBM Plex Sans" pitchFamily="34" charset="-120"/>
              </a:rPr>
              <a:t>The referral effect is an association</a:t>
            </a:r>
            <a:endParaRPr lang="en-US" sz="1600" dirty="0"/>
          </a:p>
        </p:txBody>
      </p:sp>
      <p:sp>
        <p:nvSpPr>
          <p:cNvPr id="8" name="Text 6"/>
          <p:cNvSpPr/>
          <p:nvPr/>
        </p:nvSpPr>
        <p:spPr>
          <a:xfrm>
            <a:off x="6457950" y="2200870"/>
            <a:ext cx="480072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It rests on 307 referred Nigerian signups, and referred people may already be more motivated. A test of the reward change would confirm it.</a:t>
            </a:r>
            <a:endParaRPr lang="en-US" sz="1200" dirty="0"/>
          </a:p>
        </p:txBody>
      </p:sp>
      <p:sp>
        <p:nvSpPr>
          <p:cNvPr id="9" name="Shape 7"/>
          <p:cNvSpPr/>
          <p:nvPr/>
        </p:nvSpPr>
        <p:spPr>
          <a:xfrm>
            <a:off x="815975" y="3307556"/>
            <a:ext cx="5175250" cy="1261021"/>
          </a:xfrm>
          <a:prstGeom prst="roundRect">
            <a:avLst>
              <a:gd name="adj" fmla="val 7805"/>
            </a:avLst>
          </a:prstGeom>
          <a:solidFill>
            <a:srgbClr val="FFFDF8"/>
          </a:solidFill>
          <a:ln w="6350">
            <a:solidFill>
              <a:srgbClr val="DEDAD0"/>
            </a:solidFill>
            <a:prstDash val="solid"/>
          </a:ln>
        </p:spPr>
      </p:sp>
      <p:sp>
        <p:nvSpPr>
          <p:cNvPr id="10" name="Text 8"/>
          <p:cNvSpPr/>
          <p:nvPr/>
        </p:nvSpPr>
        <p:spPr>
          <a:xfrm>
            <a:off x="1073150" y="3564731"/>
            <a:ext cx="48007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92B"/>
                </a:solidFill>
                <a:latin typeface="IBM Plex Sans" pitchFamily="34" charset="0"/>
                <a:ea typeface="IBM Plex Sans" pitchFamily="34" charset="-122"/>
                <a:cs typeface="IBM Plex Sans" pitchFamily="34" charset="-120"/>
              </a:rPr>
              <a:t>December is a single day</a:t>
            </a:r>
            <a:endParaRPr lang="en-US" sz="1600" dirty="0"/>
          </a:p>
        </p:txBody>
      </p:sp>
      <p:sp>
        <p:nvSpPr>
          <p:cNvPr id="11" name="Text 9"/>
          <p:cNvSpPr/>
          <p:nvPr/>
        </p:nvSpPr>
        <p:spPr>
          <a:xfrm>
            <a:off x="1073150" y="3884761"/>
            <a:ext cx="48007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Transfers begin on 31 Dec. All monthly comparisons use January–March only, so one day is never compared with a full month.</a:t>
            </a:r>
            <a:endParaRPr lang="en-US" sz="1200" dirty="0"/>
          </a:p>
        </p:txBody>
      </p:sp>
      <p:sp>
        <p:nvSpPr>
          <p:cNvPr id="12" name="Shape 10"/>
          <p:cNvSpPr/>
          <p:nvPr/>
        </p:nvSpPr>
        <p:spPr>
          <a:xfrm>
            <a:off x="6200775" y="3307556"/>
            <a:ext cx="5175250" cy="1261021"/>
          </a:xfrm>
          <a:prstGeom prst="roundRect">
            <a:avLst>
              <a:gd name="adj" fmla="val 7805"/>
            </a:avLst>
          </a:prstGeom>
          <a:solidFill>
            <a:srgbClr val="FFFDF8"/>
          </a:solidFill>
          <a:ln w="6350">
            <a:solidFill>
              <a:srgbClr val="DEDAD0"/>
            </a:solidFill>
            <a:prstDash val="solid"/>
          </a:ln>
        </p:spPr>
      </p:sp>
      <p:sp>
        <p:nvSpPr>
          <p:cNvPr id="13" name="Text 11"/>
          <p:cNvSpPr/>
          <p:nvPr/>
        </p:nvSpPr>
        <p:spPr>
          <a:xfrm>
            <a:off x="6457950" y="3564731"/>
            <a:ext cx="48007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92B"/>
                </a:solidFill>
                <a:latin typeface="IBM Plex Sans" pitchFamily="34" charset="0"/>
                <a:ea typeface="IBM Plex Sans" pitchFamily="34" charset="-122"/>
                <a:cs typeface="IBM Plex Sans" pitchFamily="34" charset="-120"/>
              </a:rPr>
              <a:t>The FX link is a correlation</a:t>
            </a:r>
            <a:endParaRPr lang="en-US" sz="1600" dirty="0"/>
          </a:p>
        </p:txBody>
      </p:sp>
      <p:sp>
        <p:nvSpPr>
          <p:cNvPr id="14" name="Text 12"/>
          <p:cNvSpPr/>
          <p:nvPr/>
        </p:nvSpPr>
        <p:spPr>
          <a:xfrm>
            <a:off x="6457950" y="3884761"/>
            <a:ext cx="48007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Three months show value falling as the naira weakened. Confirming the cause needs a longer history.</a:t>
            </a:r>
            <a:endParaRPr lang="en-US" sz="1200" dirty="0"/>
          </a:p>
        </p:txBody>
      </p:sp>
      <p:sp>
        <p:nvSpPr>
          <p:cNvPr id="15" name="Text 1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Full method and queries: SendFast Analysis notebook</a:t>
            </a:r>
            <a:endParaRPr lang="en-US" sz="1200" dirty="0"/>
          </a:p>
        </p:txBody>
      </p:sp>
      <p:pic>
        <p:nvPicPr>
          <p:cNvPr id="16" name="Image 0" descr="SendFast logo">    </p:cNvPr>
          <p:cNvPicPr>
            <a:picLocks noChangeAspect="1"/>
          </p:cNvPicPr>
          <p:nvPr/>
        </p:nvPicPr>
        <p:blipFill>
          <a:blip r:embed="rId1"/>
          <a:srcRect l="0" r="0" t="-34" b="-34"/>
          <a:stretch/>
        </p:blipFill>
        <p:spPr>
          <a:xfrm>
            <a:off x="9334500" y="6273800"/>
            <a:ext cx="1384300" cy="203200"/>
          </a:xfrm>
          <a:prstGeom prst="rect">
            <a:avLst/>
          </a:prstGeom>
        </p:spPr>
      </p:pic>
      <p:sp>
        <p:nvSpPr>
          <p:cNvPr id="17" name="Text 14"/>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4C54"/>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SendFast Q1 2024 Leadership Review</dc:title>
  <dc:subject>SendFast Q1 2024 Leadership Review</dc:subject>
  <dc:creator>Frank Azibolanari</dc:creator>
  <cp:lastModifiedBy>Frank Azibolanari</cp:lastModifiedBy>
  <cp:revision>1</cp:revision>
  <dcterms:created xsi:type="dcterms:W3CDTF">2026-09-25T02:28:24Z</dcterms:created>
  <dcterms:modified xsi:type="dcterms:W3CDTF">2026-09-25T02:28:24Z</dcterms:modified>
</cp:coreProperties>
</file>