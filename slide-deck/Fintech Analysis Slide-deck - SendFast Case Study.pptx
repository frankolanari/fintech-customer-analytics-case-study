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IBM Plex Sans"/>
      <p:regular r:id="rId20"/>
      <p:bold r:id="rId21"/>
      <p:italic r:id="rId22"/>
      <p:boldItalic r:id="rId23"/>
    </p:embeddedFont>
    <p:embeddedFont>
      <p:font typeface="Space Grotesk"/>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93A6239-3BBD-49CD-92A5-3A69BBA6A7D1}">
  <a:tblStyle styleId="{B93A6239-3BBD-49CD-92A5-3A69BBA6A7D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Sans-regular.fntdata"/><Relationship Id="rId22" Type="http://schemas.openxmlformats.org/officeDocument/2006/relationships/font" Target="fonts/IBMPlexSans-italic.fntdata"/><Relationship Id="rId21" Type="http://schemas.openxmlformats.org/officeDocument/2006/relationships/font" Target="fonts/IBMPlexSans-bold.fntdata"/><Relationship Id="rId24" Type="http://schemas.openxmlformats.org/officeDocument/2006/relationships/font" Target="fonts/SpaceGrotesk-regular.fntdata"/><Relationship Id="rId23" Type="http://schemas.openxmlformats.org/officeDocument/2006/relationships/font" Target="fonts/IBMPlexSans-boldItalic.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5" Type="http://schemas.openxmlformats.org/officeDocument/2006/relationships/font" Target="fonts/SpaceGrotesk-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h5b5c6e58ad8da5df_3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h5b5c6e58ad8da5df_3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review covers one quarter of transfers. The short version: our customers are loyal, but each transfer is carrying less money, and very few new signups go on to send. We'll end with three actions.</a:t>
            </a:r>
            <a:endParaRPr/>
          </a:p>
        </p:txBody>
      </p:sp>
      <p:sp>
        <p:nvSpPr>
          <p:cNvPr id="55" name="Google Shape;55;h5b5c6e58ad8da5df_3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h5b5c6e58ad8da5df_3_1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h5b5c6e58ad8da5df_3_1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If you remember one slide, this is it. Retention is healthy. Value is falling because transfers are getting smaller, not because we're losing people. And the new-signup funnel is where we're leaving growth on the table. The 6.4% is for people who signed up December to February, so everyone had at least 30 days to send.</a:t>
            </a:r>
            <a:endParaRPr/>
          </a:p>
        </p:txBody>
      </p:sp>
      <p:sp>
        <p:nvSpPr>
          <p:cNvPr id="66" name="Google Shape;66;h5b5c6e58ad8da5df_3_1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5b5c6e58ad8da5df_3_3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h5b5c6e58ad8da5df_3_3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data starts on 31 December, so December is a single day and is left out of every monthly comparison. Monthly senders were 12,405 in January, 12,285 in February and 12,246 in March.</a:t>
            </a:r>
            <a:endParaRPr/>
          </a:p>
        </p:txBody>
      </p:sp>
      <p:sp>
        <p:nvSpPr>
          <p:cNvPr id="88" name="Google Shape;88;h5b5c6e58ad8da5df_3_3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5b5c6e58ad8da5df_3_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h5b5c6e58ad8da5df_3_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good news, and it's consistent: both full-month transitions land at 79%. December is left out because the data holds only one day of it. Going forward, we'd like to track this by signup cohort. Keep this in mind for the next slide: customers are staying, so the fall in value is not about losing people.</a:t>
            </a:r>
            <a:endParaRPr/>
          </a:p>
        </p:txBody>
      </p:sp>
      <p:sp>
        <p:nvSpPr>
          <p:cNvPr id="109" name="Google Shape;109;h5b5c6e58ad8da5df_3_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h5b5c6e58ad8da5df_3_7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h5b5c6e58ad8da5df_3_7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Read each row left to right. The dark circles for senders and transfers barely change: about 12,300 people and 54,000 transfers a month. The orange value circles shrink, from CA$21.9M in January to CA$18.8M in March, down 14.3%. Most of the drop came in February. So the same people are sending just as often, but each transfer carries less: the average transfer fell from CA$397 to CA$343. The next slide shows the most likely reason.</a:t>
            </a:r>
            <a:endParaRPr/>
          </a:p>
        </p:txBody>
      </p:sp>
      <p:sp>
        <p:nvSpPr>
          <p:cNvPr id="127" name="Google Shape;127;h5b5c6e58ad8da5df_3_7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h5b5c6e58ad8da5df_3_11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h5b5c6e58ad8da5df_3_11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number of people sending CAD to NGN held at about 10,100 a month, and the number of transfers held at about 46,000. What changed is the average amount: down 13%. Over the same months the naira weakened by roughly 13 to 18 percent against the Canadian dollar. The most likely story is that families at home need the same amount in naira, which now costs fewer Canadian dollars. We'd want a longer history before treating this as the cause.</a:t>
            </a:r>
            <a:endParaRPr/>
          </a:p>
        </p:txBody>
      </p:sp>
      <p:sp>
        <p:nvSpPr>
          <p:cNvPr id="169" name="Google Shape;169;h5b5c6e58ad8da5df_3_11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5b5c6e58ad8da5df_3_1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h5b5c6e58ad8da5df_3_1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most valuable flow we have, and it's a different product from everyday remittances. 4,599 people used it this quarter. Shares here are of remittances only, so account debits within the same currency are left out.</a:t>
            </a:r>
            <a:endParaRPr/>
          </a:p>
        </p:txBody>
      </p:sp>
      <p:sp>
        <p:nvSpPr>
          <p:cNvPr id="201" name="Google Shape;201;h5b5c6e58ad8da5df_3_1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h5b5c6e58ad8da5df_3_15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h5b5c6e58ad8da5df_3_15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CAD to NGN is many small, frequent transfers: gifts, personal support, goods and services. NGN to CAD is fewer, much larger transfers, and the largest share is school fees. 1,826 people send in both directions. Losing a small number of top customers would hurt: the top 1% alone, 164 people, send 12% of value.</a:t>
            </a:r>
            <a:endParaRPr/>
          </a:p>
        </p:txBody>
      </p:sp>
      <p:sp>
        <p:nvSpPr>
          <p:cNvPr id="210" name="Google Shape;210;h5b5c6e58ad8da5df_3_15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h5b5c6e58ad8da5df_3_16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h5b5c6e58ad8da5df_3_16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These are new signups only. The users table covers people who joined December to March, not our existing customers. Two leaks stand out. First, six in ten signups never begin KYC at all. Second, even people who pass KYC mostly don't send: 1,034 of 3,477. Twelve users sent money without passing KYC; that's a small number, but compliance should look at it.</a:t>
            </a:r>
            <a:endParaRPr/>
          </a:p>
        </p:txBody>
      </p:sp>
      <p:sp>
        <p:nvSpPr>
          <p:cNvPr id="222" name="Google Shape;222;h5b5c6e58ad8da5df_3_16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h5b5c6e58ad8da5df_3_19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h5b5c6e58ad8da5df_3_19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An overall comparison makes referral look like a 4× lift, but most referred signups are Canadian, and Canadians convert better anyway. Compared within each country, referral still clearly helps: 1.7 times in Canada and 5.6 times in Nigeria, and the gaps are well outside the margin of error. The lift happens at KYC: referred Nigerians start it at 76% and pass it at 56%, against 28.5% and 12% for other Nigerians. After their first transfer, referred and non-referred senders behave the same: about 7 in 10 send again within 30 days. There are 307 referred Nigerians in this cohort, and referred people may already be more motivated, so we'd confirm this with a test.</a:t>
            </a:r>
            <a:endParaRPr/>
          </a:p>
        </p:txBody>
      </p:sp>
      <p:sp>
        <p:nvSpPr>
          <p:cNvPr id="252" name="Google Shape;252;h5b5c6e58ad8da5df_3_19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5b5c6e58ad8da5df_3_21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5b5c6e58ad8da5df_3_21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Actions 1 and 2 work together. Most Nigerian signups never begin KYC, and referral is the one thing in the data that clearly gets them through it. Paying the referral reward only once the invitee passes KYC and makes a first transfer ties the reward to what matters, and lets us test whether the referral itself causes the lift. Before scaling, we should check why referrals fell to 3.8% of signups in March. Action 3 protects nearly half our value. 40% of NGN to CAD transfers are school-related, so marketing can build lifecycle campaigns aimed at those senders; the specifics are theirs to design. The top 10% of customers send 51% of all value, so they deserve personal attention.</a:t>
            </a:r>
            <a:endParaRPr/>
          </a:p>
        </p:txBody>
      </p:sp>
      <p:sp>
        <p:nvSpPr>
          <p:cNvPr id="276" name="Google Shape;276;h5b5c6e58ad8da5df_3_21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h5b5c6e58ad8da5df_3_22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5" name="Google Shape;285;h5b5c6e58ad8da5df_3_22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None of these change the three headline findings, but they set the limits on how far we can take them. The signup data is a slice of this quarter's signups, so the funnel and referral results describe new customers, while corridor, value and retention results cover everyone who sent money.</a:t>
            </a:r>
            <a:endParaRPr/>
          </a:p>
        </p:txBody>
      </p:sp>
      <p:sp>
        <p:nvSpPr>
          <p:cNvPr id="286" name="Google Shape;286;h5b5c6e58ad8da5df_3_22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hyperlink" Target="http://linkedin.com/in/azifran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292B"/>
        </a:solidFill>
      </p:bgPr>
    </p:bg>
    <p:spTree>
      <p:nvGrpSpPr>
        <p:cNvPr id="56" name="Shape 56"/>
        <p:cNvGrpSpPr/>
        <p:nvPr/>
      </p:nvGrpSpPr>
      <p:grpSpPr>
        <a:xfrm>
          <a:off x="0" y="0"/>
          <a:ext cx="0" cy="0"/>
          <a:chOff x="0" y="0"/>
          <a:chExt cx="0" cy="0"/>
        </a:xfrm>
      </p:grpSpPr>
      <p:pic>
        <p:nvPicPr>
          <p:cNvPr descr="SendFast logo" id="57" name="Google Shape;57;p15"/>
          <p:cNvPicPr preferRelativeResize="0"/>
          <p:nvPr/>
        </p:nvPicPr>
        <p:blipFill rotWithShape="1">
          <a:blip r:embed="rId3">
            <a:alphaModFix/>
          </a:blip>
          <a:srcRect b="-34" l="0" r="0" t="-34"/>
          <a:stretch/>
        </p:blipFill>
        <p:spPr>
          <a:xfrm>
            <a:off x="609600" y="609600"/>
            <a:ext cx="2076450" cy="304800"/>
          </a:xfrm>
          <a:prstGeom prst="rect">
            <a:avLst/>
          </a:prstGeom>
          <a:noFill/>
          <a:ln>
            <a:noFill/>
          </a:ln>
        </p:spPr>
      </p:pic>
      <p:sp>
        <p:nvSpPr>
          <p:cNvPr id="58" name="Google Shape;58;p15"/>
          <p:cNvSpPr/>
          <p:nvPr/>
        </p:nvSpPr>
        <p:spPr>
          <a:xfrm>
            <a:off x="609600" y="1370550"/>
            <a:ext cx="7692600" cy="18252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7F6F2"/>
              </a:buClr>
              <a:buSzPts val="4500"/>
              <a:buFont typeface="Space Grotesk"/>
              <a:buNone/>
            </a:pPr>
            <a:r>
              <a:rPr b="1" i="0" lang="en" sz="4500" u="none" cap="none" strike="noStrike">
                <a:solidFill>
                  <a:srgbClr val="F7F6F2"/>
                </a:solidFill>
                <a:latin typeface="Space Grotesk"/>
                <a:ea typeface="Space Grotesk"/>
                <a:cs typeface="Space Grotesk"/>
                <a:sym typeface="Space Grotesk"/>
              </a:rPr>
              <a:t>Loyal customers, smaller transfers, and a signup leak</a:t>
            </a:r>
            <a:endParaRPr b="0" i="0" sz="4500" u="none" cap="none" strike="noStrike">
              <a:solidFill>
                <a:schemeClr val="dk1"/>
              </a:solidFill>
              <a:latin typeface="Calibri"/>
              <a:ea typeface="Calibri"/>
              <a:cs typeface="Calibri"/>
              <a:sym typeface="Calibri"/>
            </a:endParaRPr>
          </a:p>
        </p:txBody>
      </p:sp>
      <p:sp>
        <p:nvSpPr>
          <p:cNvPr id="59" name="Google Shape;59;p15"/>
          <p:cNvSpPr/>
          <p:nvPr/>
        </p:nvSpPr>
        <p:spPr>
          <a:xfrm>
            <a:off x="609600" y="3195750"/>
            <a:ext cx="6867600" cy="56370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9CCD0"/>
              </a:buClr>
              <a:buSzPts val="1700"/>
              <a:buFont typeface="IBM Plex Sans"/>
              <a:buNone/>
            </a:pPr>
            <a:r>
              <a:rPr b="0" i="0" lang="en" sz="1700" u="none" cap="none" strike="noStrike">
                <a:solidFill>
                  <a:srgbClr val="C9CCD0"/>
                </a:solidFill>
                <a:latin typeface="IBM Plex Sans"/>
                <a:ea typeface="IBM Plex Sans"/>
                <a:cs typeface="IBM Plex Sans"/>
                <a:sym typeface="IBM Plex Sans"/>
              </a:rPr>
              <a:t>What 164,882 transfers from 31 Dec 2023 to 31 Mar 2024 tell us, and three things to do next</a:t>
            </a:r>
            <a:endParaRPr b="0" i="0" sz="1700" u="none" cap="none" strike="noStrike">
              <a:solidFill>
                <a:schemeClr val="dk1"/>
              </a:solidFill>
              <a:latin typeface="Calibri"/>
              <a:ea typeface="Calibri"/>
              <a:cs typeface="Calibri"/>
              <a:sym typeface="Calibri"/>
            </a:endParaRPr>
          </a:p>
        </p:txBody>
      </p:sp>
      <p:sp>
        <p:nvSpPr>
          <p:cNvPr id="60" name="Google Shape;60;p15"/>
          <p:cNvSpPr/>
          <p:nvPr/>
        </p:nvSpPr>
        <p:spPr>
          <a:xfrm>
            <a:off x="609600" y="3976985"/>
            <a:ext cx="8162400" cy="179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B921"/>
              </a:buClr>
              <a:buSzPts val="900"/>
              <a:buFont typeface="IBM Plex Sans"/>
              <a:buNone/>
            </a:pPr>
            <a:r>
              <a:rPr b="1" i="0" lang="en" sz="900" u="none" cap="none" strike="noStrike">
                <a:solidFill>
                  <a:srgbClr val="F4B921"/>
                </a:solidFill>
                <a:latin typeface="IBM Plex Sans"/>
                <a:ea typeface="IBM Plex Sans"/>
                <a:cs typeface="IBM Plex Sans"/>
                <a:sym typeface="IBM Plex Sans"/>
              </a:rPr>
              <a:t>Leadership review · Q1 2024</a:t>
            </a:r>
            <a:r>
              <a:rPr b="0" i="0" lang="en" sz="900" u="none" cap="none" strike="noStrike">
                <a:solidFill>
                  <a:srgbClr val="C9CCD0"/>
                </a:solidFill>
                <a:latin typeface="IBM Plex Sans"/>
                <a:ea typeface="IBM Plex Sans"/>
                <a:cs typeface="IBM Plex Sans"/>
                <a:sym typeface="IBM Plex Sans"/>
              </a:rPr>
              <a:t> · Data: SendFast transactions table and new-signup users table</a:t>
            </a:r>
            <a:endParaRPr b="0" i="0" sz="900" u="none" cap="none" strike="noStrike">
              <a:solidFill>
                <a:schemeClr val="dk1"/>
              </a:solidFill>
              <a:latin typeface="Calibri"/>
              <a:ea typeface="Calibri"/>
              <a:cs typeface="Calibri"/>
              <a:sym typeface="Calibri"/>
            </a:endParaRPr>
          </a:p>
        </p:txBody>
      </p:sp>
      <p:sp>
        <p:nvSpPr>
          <p:cNvPr id="61" name="Google Shape;61;p15"/>
          <p:cNvSpPr/>
          <p:nvPr/>
        </p:nvSpPr>
        <p:spPr>
          <a:xfrm>
            <a:off x="609600" y="4595163"/>
            <a:ext cx="8162400" cy="21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6F2"/>
              </a:buClr>
              <a:buSzPts val="1200"/>
              <a:buFont typeface="IBM Plex Sans"/>
              <a:buNone/>
            </a:pPr>
            <a:r>
              <a:rPr b="1" i="0" lang="en" sz="1200" u="none" cap="none" strike="noStrike">
                <a:solidFill>
                  <a:srgbClr val="F7F6F2"/>
                </a:solidFill>
                <a:latin typeface="IBM Plex Sans"/>
                <a:ea typeface="IBM Plex Sans"/>
                <a:cs typeface="IBM Plex Sans"/>
                <a:sym typeface="IBM Plex Sans"/>
              </a:rPr>
              <a:t>Prepared by Frank Azi </a:t>
            </a:r>
            <a:endParaRPr sz="1100"/>
          </a:p>
        </p:txBody>
      </p:sp>
      <p:sp>
        <p:nvSpPr>
          <p:cNvPr id="62" name="Google Shape;62;p15"/>
          <p:cNvSpPr/>
          <p:nvPr/>
        </p:nvSpPr>
        <p:spPr>
          <a:xfrm>
            <a:off x="609675" y="4809463"/>
            <a:ext cx="8162400" cy="21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7F6F2"/>
              </a:buClr>
              <a:buSzPts val="1200"/>
              <a:buFont typeface="IBM Plex Sans"/>
              <a:buNone/>
            </a:pPr>
            <a:r>
              <a:rPr b="1" lang="en" sz="1200">
                <a:solidFill>
                  <a:srgbClr val="00FFFF"/>
                </a:solidFill>
                <a:uFill>
                  <a:noFill/>
                </a:uFill>
                <a:latin typeface="IBM Plex Sans"/>
                <a:ea typeface="IBM Plex Sans"/>
                <a:cs typeface="IBM Plex Sans"/>
                <a:sym typeface="IBM Plex Sans"/>
                <a:hlinkClick r:id="rId4">
                  <a:extLst>
                    <a:ext uri="{A12FA001-AC4F-418D-AE19-62706E023703}">
                      <ahyp:hlinkClr val="tx"/>
                    </a:ext>
                  </a:extLst>
                </a:hlinkClick>
              </a:rPr>
              <a:t>linkedin.com/in/azifrank</a:t>
            </a:r>
            <a:endParaRPr sz="1100">
              <a:solidFill>
                <a:srgbClr val="00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67" name="Shape 67"/>
        <p:cNvGrpSpPr/>
        <p:nvPr/>
      </p:nvGrpSpPr>
      <p:grpSpPr>
        <a:xfrm>
          <a:off x="0" y="0"/>
          <a:ext cx="0" cy="0"/>
          <a:chOff x="0" y="0"/>
          <a:chExt cx="0" cy="0"/>
        </a:xfrm>
      </p:grpSpPr>
      <p:sp>
        <p:nvSpPr>
          <p:cNvPr id="68" name="Google Shape;68;p16"/>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Three things to know</a:t>
            </a:r>
            <a:endParaRPr b="0" i="0" sz="2700" u="none" cap="none" strike="noStrike">
              <a:solidFill>
                <a:schemeClr val="dk1"/>
              </a:solidFill>
              <a:latin typeface="Calibri"/>
              <a:ea typeface="Calibri"/>
              <a:cs typeface="Calibri"/>
              <a:sym typeface="Calibri"/>
            </a:endParaRPr>
          </a:p>
        </p:txBody>
      </p:sp>
      <p:sp>
        <p:nvSpPr>
          <p:cNvPr id="69" name="Google Shape;69;p16"/>
          <p:cNvSpPr/>
          <p:nvPr/>
        </p:nvSpPr>
        <p:spPr>
          <a:xfrm>
            <a:off x="611981" y="1217749"/>
            <a:ext cx="2535213" cy="2279228"/>
          </a:xfrm>
          <a:prstGeom prst="roundRect">
            <a:avLst>
              <a:gd fmla="val 3239"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0" name="Google Shape;70;p16"/>
          <p:cNvSpPr/>
          <p:nvPr/>
        </p:nvSpPr>
        <p:spPr>
          <a:xfrm>
            <a:off x="842962" y="1448730"/>
            <a:ext cx="2135448"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34C54"/>
              </a:buClr>
              <a:buSzPts val="4500"/>
              <a:buFont typeface="Space Grotesk"/>
              <a:buNone/>
            </a:pPr>
            <a:r>
              <a:rPr b="1" i="0" lang="en" sz="4500" u="none" cap="none" strike="noStrike">
                <a:solidFill>
                  <a:srgbClr val="434C54"/>
                </a:solidFill>
                <a:latin typeface="Space Grotesk"/>
                <a:ea typeface="Space Grotesk"/>
                <a:cs typeface="Space Grotesk"/>
                <a:sym typeface="Space Grotesk"/>
              </a:rPr>
              <a:t>79%</a:t>
            </a:r>
            <a:endParaRPr b="0" i="0" sz="4500" u="none" cap="none" strike="noStrike">
              <a:solidFill>
                <a:schemeClr val="dk1"/>
              </a:solidFill>
              <a:latin typeface="Calibri"/>
              <a:ea typeface="Calibri"/>
              <a:cs typeface="Calibri"/>
              <a:sym typeface="Calibri"/>
            </a:endParaRPr>
          </a:p>
        </p:txBody>
      </p:sp>
      <p:sp>
        <p:nvSpPr>
          <p:cNvPr id="71" name="Google Shape;71;p16"/>
          <p:cNvSpPr/>
          <p:nvPr/>
        </p:nvSpPr>
        <p:spPr>
          <a:xfrm>
            <a:off x="842962" y="2153580"/>
            <a:ext cx="2135448" cy="41523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of senders come back the next month</a:t>
            </a:r>
            <a:endParaRPr b="0" i="0" sz="1200" u="none" cap="none" strike="noStrike">
              <a:solidFill>
                <a:schemeClr val="dk1"/>
              </a:solidFill>
              <a:latin typeface="Calibri"/>
              <a:ea typeface="Calibri"/>
              <a:cs typeface="Calibri"/>
              <a:sym typeface="Calibri"/>
            </a:endParaRPr>
          </a:p>
        </p:txBody>
      </p:sp>
      <p:sp>
        <p:nvSpPr>
          <p:cNvPr id="72" name="Google Shape;72;p16"/>
          <p:cNvSpPr/>
          <p:nvPr/>
        </p:nvSpPr>
        <p:spPr>
          <a:xfrm>
            <a:off x="842962" y="2625961"/>
            <a:ext cx="2135448" cy="65908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1200"/>
              <a:buFont typeface="IBM Plex Sans"/>
              <a:buNone/>
            </a:pPr>
            <a:r>
              <a:rPr b="0" i="0" lang="en" sz="1200" u="none" cap="none" strike="noStrike">
                <a:solidFill>
                  <a:srgbClr val="434C54"/>
                </a:solidFill>
                <a:latin typeface="IBM Plex Sans"/>
                <a:ea typeface="IBM Plex Sans"/>
                <a:cs typeface="IBM Plex Sans"/>
                <a:sym typeface="IBM Plex Sans"/>
              </a:rPr>
              <a:t>About 12,300 people send each month. The base is stable.</a:t>
            </a:r>
            <a:endParaRPr b="0" i="0" sz="1200" u="none" cap="none" strike="noStrike">
              <a:solidFill>
                <a:schemeClr val="dk1"/>
              </a:solidFill>
              <a:latin typeface="Calibri"/>
              <a:ea typeface="Calibri"/>
              <a:cs typeface="Calibri"/>
              <a:sym typeface="Calibri"/>
            </a:endParaRPr>
          </a:p>
        </p:txBody>
      </p:sp>
      <p:sp>
        <p:nvSpPr>
          <p:cNvPr id="73" name="Google Shape;73;p16"/>
          <p:cNvSpPr/>
          <p:nvPr/>
        </p:nvSpPr>
        <p:spPr>
          <a:xfrm>
            <a:off x="3304357" y="1217749"/>
            <a:ext cx="2535250" cy="2279228"/>
          </a:xfrm>
          <a:prstGeom prst="roundRect">
            <a:avLst>
              <a:gd fmla="val 3239"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6"/>
          <p:cNvSpPr/>
          <p:nvPr/>
        </p:nvSpPr>
        <p:spPr>
          <a:xfrm>
            <a:off x="3535338" y="1448730"/>
            <a:ext cx="2135486"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8471A"/>
              </a:buClr>
              <a:buSzPts val="4500"/>
              <a:buFont typeface="Space Grotesk"/>
              <a:buNone/>
            </a:pPr>
            <a:r>
              <a:rPr b="1" i="0" lang="en" sz="4500" u="none" cap="none" strike="noStrike">
                <a:solidFill>
                  <a:srgbClr val="B8471A"/>
                </a:solidFill>
                <a:latin typeface="Space Grotesk"/>
                <a:ea typeface="Space Grotesk"/>
                <a:cs typeface="Space Grotesk"/>
                <a:sym typeface="Space Grotesk"/>
              </a:rPr>
              <a:t>−14%</a:t>
            </a:r>
            <a:endParaRPr b="0" i="0" sz="4500" u="none" cap="none" strike="noStrike">
              <a:solidFill>
                <a:schemeClr val="dk1"/>
              </a:solidFill>
              <a:latin typeface="Calibri"/>
              <a:ea typeface="Calibri"/>
              <a:cs typeface="Calibri"/>
              <a:sym typeface="Calibri"/>
            </a:endParaRPr>
          </a:p>
        </p:txBody>
      </p:sp>
      <p:sp>
        <p:nvSpPr>
          <p:cNvPr id="75" name="Google Shape;75;p16"/>
          <p:cNvSpPr/>
          <p:nvPr/>
        </p:nvSpPr>
        <p:spPr>
          <a:xfrm>
            <a:off x="3535338" y="2153580"/>
            <a:ext cx="2135486" cy="41523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monthly value, January to March</a:t>
            </a:r>
            <a:endParaRPr b="0" i="0" sz="1200" u="none" cap="none" strike="noStrike">
              <a:solidFill>
                <a:schemeClr val="dk1"/>
              </a:solidFill>
              <a:latin typeface="Calibri"/>
              <a:ea typeface="Calibri"/>
              <a:cs typeface="Calibri"/>
              <a:sym typeface="Calibri"/>
            </a:endParaRPr>
          </a:p>
        </p:txBody>
      </p:sp>
      <p:sp>
        <p:nvSpPr>
          <p:cNvPr id="76" name="Google Shape;76;p16"/>
          <p:cNvSpPr/>
          <p:nvPr/>
        </p:nvSpPr>
        <p:spPr>
          <a:xfrm>
            <a:off x="3535338" y="2625961"/>
            <a:ext cx="2135486" cy="4457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1200"/>
              <a:buFont typeface="IBM Plex Sans"/>
              <a:buNone/>
            </a:pPr>
            <a:r>
              <a:rPr b="0" i="0" lang="en" sz="1200" u="none" cap="none" strike="noStrike">
                <a:solidFill>
                  <a:srgbClr val="434C54"/>
                </a:solidFill>
                <a:latin typeface="IBM Plex Sans"/>
                <a:ea typeface="IBM Plex Sans"/>
                <a:cs typeface="IBM Plex Sans"/>
                <a:sym typeface="IBM Plex Sans"/>
              </a:rPr>
              <a:t>Same senders, same transfer count, smaller transfers.</a:t>
            </a:r>
            <a:endParaRPr b="0" i="0" sz="1200" u="none" cap="none" strike="noStrike">
              <a:solidFill>
                <a:schemeClr val="dk1"/>
              </a:solidFill>
              <a:latin typeface="Calibri"/>
              <a:ea typeface="Calibri"/>
              <a:cs typeface="Calibri"/>
              <a:sym typeface="Calibri"/>
            </a:endParaRPr>
          </a:p>
        </p:txBody>
      </p:sp>
      <p:sp>
        <p:nvSpPr>
          <p:cNvPr id="77" name="Google Shape;77;p16"/>
          <p:cNvSpPr/>
          <p:nvPr/>
        </p:nvSpPr>
        <p:spPr>
          <a:xfrm>
            <a:off x="5996769" y="1217749"/>
            <a:ext cx="2535250" cy="2279228"/>
          </a:xfrm>
          <a:prstGeom prst="roundRect">
            <a:avLst>
              <a:gd fmla="val 3239"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6"/>
          <p:cNvSpPr/>
          <p:nvPr/>
        </p:nvSpPr>
        <p:spPr>
          <a:xfrm>
            <a:off x="6227750" y="1448730"/>
            <a:ext cx="2135486"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B8471A"/>
              </a:buClr>
              <a:buSzPts val="4500"/>
              <a:buFont typeface="Space Grotesk"/>
              <a:buNone/>
            </a:pPr>
            <a:r>
              <a:rPr b="1" i="0" lang="en" sz="4500" u="none" cap="none" strike="noStrike">
                <a:solidFill>
                  <a:srgbClr val="B8471A"/>
                </a:solidFill>
                <a:latin typeface="Space Grotesk"/>
                <a:ea typeface="Space Grotesk"/>
                <a:cs typeface="Space Grotesk"/>
                <a:sym typeface="Space Grotesk"/>
              </a:rPr>
              <a:t>6.4%</a:t>
            </a:r>
            <a:endParaRPr b="0" i="0" sz="4500" u="none" cap="none" strike="noStrike">
              <a:solidFill>
                <a:schemeClr val="dk1"/>
              </a:solidFill>
              <a:latin typeface="Calibri"/>
              <a:ea typeface="Calibri"/>
              <a:cs typeface="Calibri"/>
              <a:sym typeface="Calibri"/>
            </a:endParaRPr>
          </a:p>
        </p:txBody>
      </p:sp>
      <p:sp>
        <p:nvSpPr>
          <p:cNvPr id="79" name="Google Shape;79;p16"/>
          <p:cNvSpPr/>
          <p:nvPr/>
        </p:nvSpPr>
        <p:spPr>
          <a:xfrm>
            <a:off x="6227750" y="2153580"/>
            <a:ext cx="2135486" cy="41523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of new signups ever send money</a:t>
            </a:r>
            <a:endParaRPr b="0" i="0" sz="1200" u="none" cap="none" strike="noStrike">
              <a:solidFill>
                <a:schemeClr val="dk1"/>
              </a:solidFill>
              <a:latin typeface="Calibri"/>
              <a:ea typeface="Calibri"/>
              <a:cs typeface="Calibri"/>
              <a:sym typeface="Calibri"/>
            </a:endParaRPr>
          </a:p>
        </p:txBody>
      </p:sp>
      <p:sp>
        <p:nvSpPr>
          <p:cNvPr id="80" name="Google Shape;80;p16"/>
          <p:cNvSpPr/>
          <p:nvPr/>
        </p:nvSpPr>
        <p:spPr>
          <a:xfrm>
            <a:off x="6227750" y="2625961"/>
            <a:ext cx="2135486"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1200"/>
              <a:buFont typeface="IBM Plex Sans"/>
              <a:buNone/>
            </a:pPr>
            <a:r>
              <a:rPr b="0" i="0" lang="en" sz="1200" u="none" cap="none" strike="noStrike">
                <a:solidFill>
                  <a:srgbClr val="434C54"/>
                </a:solidFill>
                <a:latin typeface="IBM Plex Sans"/>
                <a:ea typeface="IBM Plex Sans"/>
                <a:cs typeface="IBM Plex Sans"/>
                <a:sym typeface="IBM Plex Sans"/>
              </a:rPr>
              <a:t>60% never start KYC.</a:t>
            </a:r>
            <a:endParaRPr b="0" i="0" sz="1200" u="none" cap="none" strike="noStrike">
              <a:solidFill>
                <a:schemeClr val="dk1"/>
              </a:solidFill>
              <a:latin typeface="Calibri"/>
              <a:ea typeface="Calibri"/>
              <a:cs typeface="Calibri"/>
              <a:sym typeface="Calibri"/>
            </a:endParaRPr>
          </a:p>
        </p:txBody>
      </p:sp>
      <p:sp>
        <p:nvSpPr>
          <p:cNvPr id="81" name="Google Shape;81;p16"/>
          <p:cNvSpPr/>
          <p:nvPr/>
        </p:nvSpPr>
        <p:spPr>
          <a:xfrm>
            <a:off x="609600" y="3727958"/>
            <a:ext cx="8162544"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We recommend:</a:t>
            </a:r>
            <a:r>
              <a:rPr b="0" i="0" lang="en" sz="1200" u="none" cap="none" strike="noStrike">
                <a:solidFill>
                  <a:srgbClr val="28292B"/>
                </a:solidFill>
                <a:latin typeface="IBM Plex Sans"/>
                <a:ea typeface="IBM Plex Sans"/>
                <a:cs typeface="IBM Plex Sans"/>
                <a:sym typeface="IBM Plex Sans"/>
              </a:rPr>
              <a:t> get Nigerian signups into KYC, use referrals to do it, and protect NGN→CAD tuition payments.</a:t>
            </a:r>
            <a:endParaRPr b="0" i="0" sz="1200" u="none" cap="none" strike="noStrike">
              <a:solidFill>
                <a:schemeClr val="dk1"/>
              </a:solidFill>
              <a:latin typeface="Calibri"/>
              <a:ea typeface="Calibri"/>
              <a:cs typeface="Calibri"/>
              <a:sym typeface="Calibri"/>
            </a:endParaRPr>
          </a:p>
        </p:txBody>
      </p:sp>
      <p:sp>
        <p:nvSpPr>
          <p:cNvPr id="82" name="Google Shape;82;p16"/>
          <p:cNvSpPr/>
          <p:nvPr/>
        </p:nvSpPr>
        <p:spPr>
          <a:xfrm>
            <a:off x="609600" y="4678710"/>
            <a:ext cx="5886450"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SendFast Q1 2024 · Leadership review</a:t>
            </a:r>
            <a:endParaRPr b="0" i="0" sz="900" u="none" cap="none" strike="noStrike">
              <a:solidFill>
                <a:schemeClr val="dk1"/>
              </a:solidFill>
              <a:latin typeface="Calibri"/>
              <a:ea typeface="Calibri"/>
              <a:cs typeface="Calibri"/>
              <a:sym typeface="Calibri"/>
            </a:endParaRPr>
          </a:p>
        </p:txBody>
      </p:sp>
      <p:pic>
        <p:nvPicPr>
          <p:cNvPr descr="SendFast logo" id="83" name="Google Shape;83;p16"/>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84" name="Google Shape;84;p16"/>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89" name="Shape 89"/>
        <p:cNvGrpSpPr/>
        <p:nvPr/>
      </p:nvGrpSpPr>
      <p:grpSpPr>
        <a:xfrm>
          <a:off x="0" y="0"/>
          <a:ext cx="0" cy="0"/>
          <a:chOff x="0" y="0"/>
          <a:chExt cx="0" cy="0"/>
        </a:xfrm>
      </p:grpSpPr>
      <p:sp>
        <p:nvSpPr>
          <p:cNvPr id="90" name="Google Shape;90;p17"/>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Q1 at a glance</a:t>
            </a:r>
            <a:endParaRPr b="0" i="0" sz="2700" u="none" cap="none" strike="noStrike">
              <a:solidFill>
                <a:schemeClr val="dk1"/>
              </a:solidFill>
              <a:latin typeface="Calibri"/>
              <a:ea typeface="Calibri"/>
              <a:cs typeface="Calibri"/>
              <a:sym typeface="Calibri"/>
            </a:endParaRPr>
          </a:p>
        </p:txBody>
      </p:sp>
      <p:sp>
        <p:nvSpPr>
          <p:cNvPr id="91" name="Google Shape;91;p17"/>
          <p:cNvSpPr/>
          <p:nvPr/>
        </p:nvSpPr>
        <p:spPr>
          <a:xfrm>
            <a:off x="611981" y="1217749"/>
            <a:ext cx="3881438" cy="1284908"/>
          </a:xfrm>
          <a:prstGeom prst="roundRect">
            <a:avLst>
              <a:gd fmla="val 5745"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2" name="Google Shape;92;p17"/>
          <p:cNvSpPr/>
          <p:nvPr/>
        </p:nvSpPr>
        <p:spPr>
          <a:xfrm>
            <a:off x="804863" y="1410630"/>
            <a:ext cx="3600545"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4500"/>
              <a:buFont typeface="Space Grotesk"/>
              <a:buNone/>
            </a:pPr>
            <a:r>
              <a:rPr b="1" i="0" lang="en" sz="4500" u="none" cap="none" strike="noStrike">
                <a:solidFill>
                  <a:srgbClr val="28292B"/>
                </a:solidFill>
                <a:latin typeface="Space Grotesk"/>
                <a:ea typeface="Space Grotesk"/>
                <a:cs typeface="Space Grotesk"/>
                <a:sym typeface="Space Grotesk"/>
              </a:rPr>
              <a:t>CA$60.5M</a:t>
            </a:r>
            <a:endParaRPr b="0" i="0" sz="4500" u="none" cap="none" strike="noStrike">
              <a:solidFill>
                <a:schemeClr val="dk1"/>
              </a:solidFill>
              <a:latin typeface="Calibri"/>
              <a:ea typeface="Calibri"/>
              <a:cs typeface="Calibri"/>
              <a:sym typeface="Calibri"/>
            </a:endParaRPr>
          </a:p>
        </p:txBody>
      </p:sp>
      <p:sp>
        <p:nvSpPr>
          <p:cNvPr id="93" name="Google Shape;93;p17"/>
          <p:cNvSpPr/>
          <p:nvPr/>
        </p:nvSpPr>
        <p:spPr>
          <a:xfrm>
            <a:off x="804863" y="2096430"/>
            <a:ext cx="360054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1200"/>
              <a:buFont typeface="IBM Plex Sans"/>
              <a:buNone/>
            </a:pPr>
            <a:r>
              <a:rPr b="0" i="0" lang="en" sz="1200" u="none" cap="none" strike="noStrike">
                <a:solidFill>
                  <a:srgbClr val="434C54"/>
                </a:solidFill>
                <a:latin typeface="IBM Plex Sans"/>
                <a:ea typeface="IBM Plex Sans"/>
                <a:cs typeface="IBM Plex Sans"/>
                <a:sym typeface="IBM Plex Sans"/>
              </a:rPr>
              <a:t>moved across all transfers</a:t>
            </a:r>
            <a:endParaRPr b="0" i="0" sz="1200" u="none" cap="none" strike="noStrike">
              <a:solidFill>
                <a:schemeClr val="dk1"/>
              </a:solidFill>
              <a:latin typeface="Calibri"/>
              <a:ea typeface="Calibri"/>
              <a:cs typeface="Calibri"/>
              <a:sym typeface="Calibri"/>
            </a:endParaRPr>
          </a:p>
        </p:txBody>
      </p:sp>
      <p:sp>
        <p:nvSpPr>
          <p:cNvPr id="94" name="Google Shape;94;p17"/>
          <p:cNvSpPr/>
          <p:nvPr/>
        </p:nvSpPr>
        <p:spPr>
          <a:xfrm>
            <a:off x="4650581" y="1217749"/>
            <a:ext cx="3881438" cy="1284908"/>
          </a:xfrm>
          <a:prstGeom prst="roundRect">
            <a:avLst>
              <a:gd fmla="val 5745"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7"/>
          <p:cNvSpPr/>
          <p:nvPr/>
        </p:nvSpPr>
        <p:spPr>
          <a:xfrm>
            <a:off x="4843463" y="1410630"/>
            <a:ext cx="3600545"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4500"/>
              <a:buFont typeface="Space Grotesk"/>
              <a:buNone/>
            </a:pPr>
            <a:r>
              <a:rPr b="1" i="0" lang="en" sz="4500" u="none" cap="none" strike="noStrike">
                <a:solidFill>
                  <a:srgbClr val="28292B"/>
                </a:solidFill>
                <a:latin typeface="Space Grotesk"/>
                <a:ea typeface="Space Grotesk"/>
                <a:cs typeface="Space Grotesk"/>
                <a:sym typeface="Space Grotesk"/>
              </a:rPr>
              <a:t>164,882</a:t>
            </a:r>
            <a:endParaRPr b="0" i="0" sz="4500" u="none" cap="none" strike="noStrike">
              <a:solidFill>
                <a:schemeClr val="dk1"/>
              </a:solidFill>
              <a:latin typeface="Calibri"/>
              <a:ea typeface="Calibri"/>
              <a:cs typeface="Calibri"/>
              <a:sym typeface="Calibri"/>
            </a:endParaRPr>
          </a:p>
        </p:txBody>
      </p:sp>
      <p:sp>
        <p:nvSpPr>
          <p:cNvPr id="96" name="Google Shape;96;p17"/>
          <p:cNvSpPr/>
          <p:nvPr/>
        </p:nvSpPr>
        <p:spPr>
          <a:xfrm>
            <a:off x="4843463" y="2096430"/>
            <a:ext cx="360054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1200"/>
              <a:buFont typeface="IBM Plex Sans"/>
              <a:buNone/>
            </a:pPr>
            <a:r>
              <a:rPr b="0" i="0" lang="en" sz="1200" u="none" cap="none" strike="noStrike">
                <a:solidFill>
                  <a:srgbClr val="434C54"/>
                </a:solidFill>
                <a:latin typeface="IBM Plex Sans"/>
                <a:ea typeface="IBM Plex Sans"/>
                <a:cs typeface="IBM Plex Sans"/>
                <a:sym typeface="IBM Plex Sans"/>
              </a:rPr>
              <a:t>transfers</a:t>
            </a:r>
            <a:endParaRPr b="0" i="0" sz="1200" u="none" cap="none" strike="noStrike">
              <a:solidFill>
                <a:schemeClr val="dk1"/>
              </a:solidFill>
              <a:latin typeface="Calibri"/>
              <a:ea typeface="Calibri"/>
              <a:cs typeface="Calibri"/>
              <a:sym typeface="Calibri"/>
            </a:endParaRPr>
          </a:p>
        </p:txBody>
      </p:sp>
      <p:sp>
        <p:nvSpPr>
          <p:cNvPr id="97" name="Google Shape;97;p17"/>
          <p:cNvSpPr/>
          <p:nvPr/>
        </p:nvSpPr>
        <p:spPr>
          <a:xfrm>
            <a:off x="611981" y="2659819"/>
            <a:ext cx="3881438" cy="1284907"/>
          </a:xfrm>
          <a:prstGeom prst="roundRect">
            <a:avLst>
              <a:gd fmla="val 5745"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8" name="Google Shape;98;p17"/>
          <p:cNvSpPr/>
          <p:nvPr/>
        </p:nvSpPr>
        <p:spPr>
          <a:xfrm>
            <a:off x="804863" y="2852700"/>
            <a:ext cx="3600545"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4500"/>
              <a:buFont typeface="Space Grotesk"/>
              <a:buNone/>
            </a:pPr>
            <a:r>
              <a:rPr b="1" i="0" lang="en" sz="4500" u="none" cap="none" strike="noStrike">
                <a:solidFill>
                  <a:srgbClr val="28292B"/>
                </a:solidFill>
                <a:latin typeface="Space Grotesk"/>
                <a:ea typeface="Space Grotesk"/>
                <a:cs typeface="Space Grotesk"/>
                <a:sym typeface="Space Grotesk"/>
              </a:rPr>
              <a:t>12,300</a:t>
            </a:r>
            <a:endParaRPr b="0" i="0" sz="4500" u="none" cap="none" strike="noStrike">
              <a:solidFill>
                <a:schemeClr val="dk1"/>
              </a:solidFill>
              <a:latin typeface="Calibri"/>
              <a:ea typeface="Calibri"/>
              <a:cs typeface="Calibri"/>
              <a:sym typeface="Calibri"/>
            </a:endParaRPr>
          </a:p>
        </p:txBody>
      </p:sp>
      <p:sp>
        <p:nvSpPr>
          <p:cNvPr id="99" name="Google Shape;99;p17"/>
          <p:cNvSpPr/>
          <p:nvPr/>
        </p:nvSpPr>
        <p:spPr>
          <a:xfrm>
            <a:off x="804863" y="3538500"/>
            <a:ext cx="360054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1200"/>
              <a:buFont typeface="IBM Plex Sans"/>
              <a:buNone/>
            </a:pPr>
            <a:r>
              <a:rPr b="0" i="0" lang="en" sz="1200" u="none" cap="none" strike="noStrike">
                <a:solidFill>
                  <a:srgbClr val="434C54"/>
                </a:solidFill>
                <a:latin typeface="IBM Plex Sans"/>
                <a:ea typeface="IBM Plex Sans"/>
                <a:cs typeface="IBM Plex Sans"/>
                <a:sym typeface="IBM Plex Sans"/>
              </a:rPr>
              <a:t>people sending in an average month</a:t>
            </a:r>
            <a:endParaRPr b="0" i="0" sz="1200" u="none" cap="none" strike="noStrike">
              <a:solidFill>
                <a:schemeClr val="dk1"/>
              </a:solidFill>
              <a:latin typeface="Calibri"/>
              <a:ea typeface="Calibri"/>
              <a:cs typeface="Calibri"/>
              <a:sym typeface="Calibri"/>
            </a:endParaRPr>
          </a:p>
        </p:txBody>
      </p:sp>
      <p:sp>
        <p:nvSpPr>
          <p:cNvPr id="100" name="Google Shape;100;p17"/>
          <p:cNvSpPr/>
          <p:nvPr/>
        </p:nvSpPr>
        <p:spPr>
          <a:xfrm>
            <a:off x="4650581" y="2659819"/>
            <a:ext cx="3881438" cy="1284907"/>
          </a:xfrm>
          <a:prstGeom prst="roundRect">
            <a:avLst>
              <a:gd fmla="val 5745"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1" name="Google Shape;101;p17"/>
          <p:cNvSpPr/>
          <p:nvPr/>
        </p:nvSpPr>
        <p:spPr>
          <a:xfrm>
            <a:off x="4843463" y="2852700"/>
            <a:ext cx="3600545"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4500"/>
              <a:buFont typeface="Space Grotesk"/>
              <a:buNone/>
            </a:pPr>
            <a:r>
              <a:rPr b="1" i="0" lang="en" sz="4500" u="none" cap="none" strike="noStrike">
                <a:solidFill>
                  <a:srgbClr val="28292B"/>
                </a:solidFill>
                <a:latin typeface="Space Grotesk"/>
                <a:ea typeface="Space Grotesk"/>
                <a:cs typeface="Space Grotesk"/>
                <a:sym typeface="Space Grotesk"/>
              </a:rPr>
              <a:t>16,444</a:t>
            </a:r>
            <a:endParaRPr b="0" i="0" sz="4500" u="none" cap="none" strike="noStrike">
              <a:solidFill>
                <a:schemeClr val="dk1"/>
              </a:solidFill>
              <a:latin typeface="Calibri"/>
              <a:ea typeface="Calibri"/>
              <a:cs typeface="Calibri"/>
              <a:sym typeface="Calibri"/>
            </a:endParaRPr>
          </a:p>
        </p:txBody>
      </p:sp>
      <p:sp>
        <p:nvSpPr>
          <p:cNvPr id="102" name="Google Shape;102;p17"/>
          <p:cNvSpPr/>
          <p:nvPr/>
        </p:nvSpPr>
        <p:spPr>
          <a:xfrm>
            <a:off x="4843463" y="3538500"/>
            <a:ext cx="360054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1200"/>
              <a:buFont typeface="IBM Plex Sans"/>
              <a:buNone/>
            </a:pPr>
            <a:r>
              <a:rPr b="0" i="0" lang="en" sz="1200" u="none" cap="none" strike="noStrike">
                <a:solidFill>
                  <a:srgbClr val="434C54"/>
                </a:solidFill>
                <a:latin typeface="IBM Plex Sans"/>
                <a:ea typeface="IBM Plex Sans"/>
                <a:cs typeface="IBM Plex Sans"/>
                <a:sym typeface="IBM Plex Sans"/>
              </a:rPr>
              <a:t>people sent at least once</a:t>
            </a:r>
            <a:endParaRPr b="0" i="0" sz="1200" u="none" cap="none" strike="noStrike">
              <a:solidFill>
                <a:schemeClr val="dk1"/>
              </a:solidFill>
              <a:latin typeface="Calibri"/>
              <a:ea typeface="Calibri"/>
              <a:cs typeface="Calibri"/>
              <a:sym typeface="Calibri"/>
            </a:endParaRPr>
          </a:p>
        </p:txBody>
      </p:sp>
      <p:sp>
        <p:nvSpPr>
          <p:cNvPr id="103" name="Google Shape;103;p17"/>
          <p:cNvSpPr/>
          <p:nvPr/>
        </p:nvSpPr>
        <p:spPr>
          <a:xfrm>
            <a:off x="609600" y="4678710"/>
            <a:ext cx="5886450"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Totals cover 31 Dec 2023 – 31 Mar 2024. Monthly figures use January–March only.</a:t>
            </a:r>
            <a:endParaRPr b="0" i="0" sz="900" u="none" cap="none" strike="noStrike">
              <a:solidFill>
                <a:schemeClr val="dk1"/>
              </a:solidFill>
              <a:latin typeface="Calibri"/>
              <a:ea typeface="Calibri"/>
              <a:cs typeface="Calibri"/>
              <a:sym typeface="Calibri"/>
            </a:endParaRPr>
          </a:p>
        </p:txBody>
      </p:sp>
      <p:pic>
        <p:nvPicPr>
          <p:cNvPr descr="SendFast logo" id="104" name="Google Shape;104;p17"/>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105" name="Google Shape;105;p17"/>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AE3"/>
        </a:solidFill>
      </p:bgPr>
    </p:bg>
    <p:spTree>
      <p:nvGrpSpPr>
        <p:cNvPr id="110" name="Shape 110"/>
        <p:cNvGrpSpPr/>
        <p:nvPr/>
      </p:nvGrpSpPr>
      <p:grpSpPr>
        <a:xfrm>
          <a:off x="0" y="0"/>
          <a:ext cx="0" cy="0"/>
          <a:chOff x="0" y="0"/>
          <a:chExt cx="0" cy="0"/>
        </a:xfrm>
      </p:grpSpPr>
      <p:sp>
        <p:nvSpPr>
          <p:cNvPr id="111" name="Google Shape;111;p18"/>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Customers keep coming back</a:t>
            </a:r>
            <a:endParaRPr b="0" i="0" sz="2700" u="none" cap="none" strike="noStrike">
              <a:solidFill>
                <a:schemeClr val="dk1"/>
              </a:solidFill>
              <a:latin typeface="Calibri"/>
              <a:ea typeface="Calibri"/>
              <a:cs typeface="Calibri"/>
              <a:sym typeface="Calibri"/>
            </a:endParaRPr>
          </a:p>
        </p:txBody>
      </p:sp>
      <p:sp>
        <p:nvSpPr>
          <p:cNvPr id="112" name="Google Shape;112;p18"/>
          <p:cNvSpPr/>
          <p:nvPr/>
        </p:nvSpPr>
        <p:spPr>
          <a:xfrm>
            <a:off x="611981" y="1217749"/>
            <a:ext cx="3881438" cy="1799183"/>
          </a:xfrm>
          <a:prstGeom prst="roundRect">
            <a:avLst>
              <a:gd fmla="val 4103"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18"/>
          <p:cNvSpPr/>
          <p:nvPr/>
        </p:nvSpPr>
        <p:spPr>
          <a:xfrm>
            <a:off x="842963" y="1448730"/>
            <a:ext cx="3522059"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34C54"/>
              </a:buClr>
              <a:buSzPts val="4500"/>
              <a:buFont typeface="Space Grotesk"/>
              <a:buNone/>
            </a:pPr>
            <a:r>
              <a:rPr b="1" i="0" lang="en" sz="4500" u="none" cap="none" strike="noStrike">
                <a:solidFill>
                  <a:srgbClr val="434C54"/>
                </a:solidFill>
                <a:latin typeface="Space Grotesk"/>
                <a:ea typeface="Space Grotesk"/>
                <a:cs typeface="Space Grotesk"/>
                <a:sym typeface="Space Grotesk"/>
              </a:rPr>
              <a:t>79%</a:t>
            </a:r>
            <a:endParaRPr b="0" i="0" sz="4500" u="none" cap="none" strike="noStrike">
              <a:solidFill>
                <a:schemeClr val="dk1"/>
              </a:solidFill>
              <a:latin typeface="Calibri"/>
              <a:ea typeface="Calibri"/>
              <a:cs typeface="Calibri"/>
              <a:sym typeface="Calibri"/>
            </a:endParaRPr>
          </a:p>
        </p:txBody>
      </p:sp>
      <p:sp>
        <p:nvSpPr>
          <p:cNvPr id="114" name="Google Shape;114;p18"/>
          <p:cNvSpPr/>
          <p:nvPr/>
        </p:nvSpPr>
        <p:spPr>
          <a:xfrm>
            <a:off x="842963" y="2153580"/>
            <a:ext cx="3522059" cy="415231"/>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of one month's senders send again the next month</a:t>
            </a:r>
            <a:endParaRPr b="0" i="0" sz="1200" u="none" cap="none" strike="noStrike">
              <a:solidFill>
                <a:schemeClr val="dk1"/>
              </a:solidFill>
              <a:latin typeface="Calibri"/>
              <a:ea typeface="Calibri"/>
              <a:cs typeface="Calibri"/>
              <a:sym typeface="Calibri"/>
            </a:endParaRPr>
          </a:p>
        </p:txBody>
      </p:sp>
      <p:sp>
        <p:nvSpPr>
          <p:cNvPr id="115" name="Google Shape;115;p18"/>
          <p:cNvSpPr/>
          <p:nvPr/>
        </p:nvSpPr>
        <p:spPr>
          <a:xfrm>
            <a:off x="842963" y="2625961"/>
            <a:ext cx="352205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January → February 78.5% · February → March 78.9%</a:t>
            </a:r>
            <a:endParaRPr b="0" i="0" sz="900" u="none" cap="none" strike="noStrike">
              <a:solidFill>
                <a:schemeClr val="dk1"/>
              </a:solidFill>
              <a:latin typeface="Calibri"/>
              <a:ea typeface="Calibri"/>
              <a:cs typeface="Calibri"/>
              <a:sym typeface="Calibri"/>
            </a:endParaRPr>
          </a:p>
        </p:txBody>
      </p:sp>
      <p:sp>
        <p:nvSpPr>
          <p:cNvPr id="116" name="Google Shape;116;p18"/>
          <p:cNvSpPr/>
          <p:nvPr/>
        </p:nvSpPr>
        <p:spPr>
          <a:xfrm>
            <a:off x="4650581" y="1217749"/>
            <a:ext cx="3881438" cy="1799183"/>
          </a:xfrm>
          <a:prstGeom prst="roundRect">
            <a:avLst>
              <a:gd fmla="val 4103"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7" name="Google Shape;117;p18"/>
          <p:cNvSpPr/>
          <p:nvPr/>
        </p:nvSpPr>
        <p:spPr>
          <a:xfrm>
            <a:off x="4881563" y="1448730"/>
            <a:ext cx="3522059"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434C54"/>
              </a:buClr>
              <a:buSzPts val="4500"/>
              <a:buFont typeface="Space Grotesk"/>
              <a:buNone/>
            </a:pPr>
            <a:r>
              <a:rPr b="1" i="0" lang="en" sz="4500" u="none" cap="none" strike="noStrike">
                <a:solidFill>
                  <a:srgbClr val="434C54"/>
                </a:solidFill>
                <a:latin typeface="Space Grotesk"/>
                <a:ea typeface="Space Grotesk"/>
                <a:cs typeface="Space Grotesk"/>
                <a:sym typeface="Space Grotesk"/>
              </a:rPr>
              <a:t>55%</a:t>
            </a:r>
            <a:endParaRPr b="0" i="0" sz="4500" u="none" cap="none" strike="noStrike">
              <a:solidFill>
                <a:schemeClr val="dk1"/>
              </a:solidFill>
              <a:latin typeface="Calibri"/>
              <a:ea typeface="Calibri"/>
              <a:cs typeface="Calibri"/>
              <a:sym typeface="Calibri"/>
            </a:endParaRPr>
          </a:p>
        </p:txBody>
      </p:sp>
      <p:sp>
        <p:nvSpPr>
          <p:cNvPr id="118" name="Google Shape;118;p18"/>
          <p:cNvSpPr/>
          <p:nvPr/>
        </p:nvSpPr>
        <p:spPr>
          <a:xfrm>
            <a:off x="4881563" y="2153580"/>
            <a:ext cx="3522059" cy="2171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send again the following week</a:t>
            </a:r>
            <a:endParaRPr b="0" i="0" sz="1200" u="none" cap="none" strike="noStrike">
              <a:solidFill>
                <a:schemeClr val="dk1"/>
              </a:solidFill>
              <a:latin typeface="Calibri"/>
              <a:ea typeface="Calibri"/>
              <a:cs typeface="Calibri"/>
              <a:sym typeface="Calibri"/>
            </a:endParaRPr>
          </a:p>
        </p:txBody>
      </p:sp>
      <p:sp>
        <p:nvSpPr>
          <p:cNvPr id="119" name="Google Shape;119;p18"/>
          <p:cNvSpPr/>
          <p:nvPr/>
        </p:nvSpPr>
        <p:spPr>
          <a:xfrm>
            <a:off x="4881563" y="2427871"/>
            <a:ext cx="3522059"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Average of 12 week-to-week comparisons</a:t>
            </a:r>
            <a:endParaRPr b="0" i="0" sz="900" u="none" cap="none" strike="noStrike">
              <a:solidFill>
                <a:schemeClr val="dk1"/>
              </a:solidFill>
              <a:latin typeface="Calibri"/>
              <a:ea typeface="Calibri"/>
              <a:cs typeface="Calibri"/>
              <a:sym typeface="Calibri"/>
            </a:endParaRPr>
          </a:p>
        </p:txBody>
      </p:sp>
      <p:sp>
        <p:nvSpPr>
          <p:cNvPr id="120" name="Google Shape;120;p18"/>
          <p:cNvSpPr/>
          <p:nvPr/>
        </p:nvSpPr>
        <p:spPr>
          <a:xfrm>
            <a:off x="609600" y="3247913"/>
            <a:ext cx="7358062" cy="4457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Weekly is lower because many people send once a month. Two full months is a short record, so we should keep tracking this.</a:t>
            </a:r>
            <a:endParaRPr b="0" i="0" sz="1200" u="none" cap="none" strike="noStrike">
              <a:solidFill>
                <a:schemeClr val="dk1"/>
              </a:solidFill>
              <a:latin typeface="Calibri"/>
              <a:ea typeface="Calibri"/>
              <a:cs typeface="Calibri"/>
              <a:sym typeface="Calibri"/>
            </a:endParaRPr>
          </a:p>
        </p:txBody>
      </p:sp>
      <p:sp>
        <p:nvSpPr>
          <p:cNvPr id="121" name="Google Shape;121;p18"/>
          <p:cNvSpPr/>
          <p:nvPr/>
        </p:nvSpPr>
        <p:spPr>
          <a:xfrm>
            <a:off x="609600" y="4678710"/>
            <a:ext cx="5886450"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Retained = sent in the month (or week) straight after one in which they sent.</a:t>
            </a:r>
            <a:endParaRPr b="0" i="0" sz="900" u="none" cap="none" strike="noStrike">
              <a:solidFill>
                <a:schemeClr val="dk1"/>
              </a:solidFill>
              <a:latin typeface="Calibri"/>
              <a:ea typeface="Calibri"/>
              <a:cs typeface="Calibri"/>
              <a:sym typeface="Calibri"/>
            </a:endParaRPr>
          </a:p>
        </p:txBody>
      </p:sp>
      <p:pic>
        <p:nvPicPr>
          <p:cNvPr descr="SendFast logo" id="122" name="Google Shape;122;p18"/>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123" name="Google Shape;123;p18"/>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28" name="Shape 128"/>
        <p:cNvGrpSpPr/>
        <p:nvPr/>
      </p:nvGrpSpPr>
      <p:grpSpPr>
        <a:xfrm>
          <a:off x="0" y="0"/>
          <a:ext cx="0" cy="0"/>
          <a:chOff x="0" y="0"/>
          <a:chExt cx="0" cy="0"/>
        </a:xfrm>
      </p:grpSpPr>
      <p:sp>
        <p:nvSpPr>
          <p:cNvPr id="129" name="Google Shape;129;p19"/>
          <p:cNvSpPr/>
          <p:nvPr/>
        </p:nvSpPr>
        <p:spPr>
          <a:xfrm>
            <a:off x="609600" y="4678710"/>
            <a:ext cx="63769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Circle width = monthly figure, scaled per row. % = change on the previous month.</a:t>
            </a:r>
            <a:endParaRPr b="0" i="0" sz="900" u="none" cap="none" strike="noStrike">
              <a:solidFill>
                <a:schemeClr val="dk1"/>
              </a:solidFill>
              <a:latin typeface="Calibri"/>
              <a:ea typeface="Calibri"/>
              <a:cs typeface="Calibri"/>
              <a:sym typeface="Calibri"/>
            </a:endParaRPr>
          </a:p>
        </p:txBody>
      </p:sp>
      <p:pic>
        <p:nvPicPr>
          <p:cNvPr descr="SendFast logo" id="130" name="Google Shape;130;p19"/>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131" name="Google Shape;131;p19"/>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5</a:t>
            </a:r>
            <a:endParaRPr b="0" i="0" sz="900" u="none" cap="none" strike="noStrike">
              <a:solidFill>
                <a:schemeClr val="dk1"/>
              </a:solidFill>
              <a:latin typeface="Calibri"/>
              <a:ea typeface="Calibri"/>
              <a:cs typeface="Calibri"/>
              <a:sym typeface="Calibri"/>
            </a:endParaRPr>
          </a:p>
        </p:txBody>
      </p:sp>
      <p:sp>
        <p:nvSpPr>
          <p:cNvPr id="132" name="Google Shape;132;p19"/>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Senders are steady. Value is not.</a:t>
            </a:r>
            <a:endParaRPr b="0" i="0" sz="2700" u="none" cap="none" strike="noStrike">
              <a:solidFill>
                <a:schemeClr val="dk1"/>
              </a:solidFill>
              <a:latin typeface="Calibri"/>
              <a:ea typeface="Calibri"/>
              <a:cs typeface="Calibri"/>
              <a:sym typeface="Calibri"/>
            </a:endParaRPr>
          </a:p>
        </p:txBody>
      </p:sp>
      <p:sp>
        <p:nvSpPr>
          <p:cNvPr id="133" name="Google Shape;133;p19"/>
          <p:cNvSpPr/>
          <p:nvPr/>
        </p:nvSpPr>
        <p:spPr>
          <a:xfrm>
            <a:off x="524089" y="1138200"/>
            <a:ext cx="5871733"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JANUARY</a:t>
            </a:r>
            <a:endParaRPr b="0" i="0" sz="900" u="none" cap="none" strike="noStrike">
              <a:solidFill>
                <a:schemeClr val="dk1"/>
              </a:solidFill>
              <a:latin typeface="Calibri"/>
              <a:ea typeface="Calibri"/>
              <a:cs typeface="Calibri"/>
              <a:sym typeface="Calibri"/>
            </a:endParaRPr>
          </a:p>
        </p:txBody>
      </p:sp>
      <p:sp>
        <p:nvSpPr>
          <p:cNvPr id="134" name="Google Shape;134;p19"/>
          <p:cNvSpPr/>
          <p:nvPr/>
        </p:nvSpPr>
        <p:spPr>
          <a:xfrm>
            <a:off x="6276951" y="1138200"/>
            <a:ext cx="2290810"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MARCH</a:t>
            </a:r>
            <a:endParaRPr b="0" i="0" sz="900" u="none" cap="none" strike="noStrike">
              <a:solidFill>
                <a:schemeClr val="dk1"/>
              </a:solidFill>
              <a:latin typeface="Calibri"/>
              <a:ea typeface="Calibri"/>
              <a:cs typeface="Calibri"/>
              <a:sym typeface="Calibri"/>
            </a:endParaRPr>
          </a:p>
        </p:txBody>
      </p:sp>
      <p:sp>
        <p:nvSpPr>
          <p:cNvPr id="135" name="Google Shape;135;p19"/>
          <p:cNvSpPr/>
          <p:nvPr/>
        </p:nvSpPr>
        <p:spPr>
          <a:xfrm>
            <a:off x="609600" y="1634059"/>
            <a:ext cx="1864043"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Active senders</a:t>
            </a:r>
            <a:endParaRPr b="0" i="0" sz="1200" u="none" cap="none" strike="noStrike">
              <a:solidFill>
                <a:schemeClr val="dk1"/>
              </a:solidFill>
              <a:latin typeface="Calibri"/>
              <a:ea typeface="Calibri"/>
              <a:cs typeface="Calibri"/>
              <a:sym typeface="Calibri"/>
            </a:endParaRPr>
          </a:p>
        </p:txBody>
      </p:sp>
      <p:sp>
        <p:nvSpPr>
          <p:cNvPr id="136" name="Google Shape;136;p19"/>
          <p:cNvSpPr/>
          <p:nvPr/>
        </p:nvSpPr>
        <p:spPr>
          <a:xfrm>
            <a:off x="609600" y="1866454"/>
            <a:ext cx="1864043"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Distinct people sending</a:t>
            </a:r>
            <a:endParaRPr b="0" i="0" sz="900" u="none" cap="none" strike="noStrike">
              <a:solidFill>
                <a:schemeClr val="dk1"/>
              </a:solidFill>
              <a:latin typeface="Calibri"/>
              <a:ea typeface="Calibri"/>
              <a:cs typeface="Calibri"/>
              <a:sym typeface="Calibri"/>
            </a:endParaRPr>
          </a:p>
        </p:txBody>
      </p:sp>
      <p:sp>
        <p:nvSpPr>
          <p:cNvPr id="137" name="Google Shape;137;p19"/>
          <p:cNvSpPr/>
          <p:nvPr/>
        </p:nvSpPr>
        <p:spPr>
          <a:xfrm>
            <a:off x="3081338" y="1374056"/>
            <a:ext cx="714375" cy="714375"/>
          </a:xfrm>
          <a:prstGeom prst="roundRect">
            <a:avLst>
              <a:gd fmla="val 50000"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8" name="Google Shape;138;p19"/>
          <p:cNvSpPr/>
          <p:nvPr/>
        </p:nvSpPr>
        <p:spPr>
          <a:xfrm>
            <a:off x="3187154" y="1624570"/>
            <a:ext cx="540841"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12,405</a:t>
            </a:r>
            <a:endParaRPr b="0" i="0" sz="1200" u="none" cap="none" strike="noStrike">
              <a:solidFill>
                <a:schemeClr val="dk1"/>
              </a:solidFill>
              <a:latin typeface="Calibri"/>
              <a:ea typeface="Calibri"/>
              <a:cs typeface="Calibri"/>
              <a:sym typeface="Calibri"/>
            </a:endParaRPr>
          </a:p>
        </p:txBody>
      </p:sp>
      <p:sp>
        <p:nvSpPr>
          <p:cNvPr id="139" name="Google Shape;139;p19"/>
          <p:cNvSpPr/>
          <p:nvPr/>
        </p:nvSpPr>
        <p:spPr>
          <a:xfrm>
            <a:off x="5122069" y="1376437"/>
            <a:ext cx="709613" cy="709613"/>
          </a:xfrm>
          <a:prstGeom prst="roundRect">
            <a:avLst>
              <a:gd fmla="val 50000"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9"/>
          <p:cNvSpPr/>
          <p:nvPr/>
        </p:nvSpPr>
        <p:spPr>
          <a:xfrm>
            <a:off x="5225504" y="1624570"/>
            <a:ext cx="540842"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12,285</a:t>
            </a:r>
            <a:endParaRPr b="0" i="0" sz="1200" u="none" cap="none" strike="noStrike">
              <a:solidFill>
                <a:schemeClr val="dk1"/>
              </a:solidFill>
              <a:latin typeface="Calibri"/>
              <a:ea typeface="Calibri"/>
              <a:cs typeface="Calibri"/>
              <a:sym typeface="Calibri"/>
            </a:endParaRPr>
          </a:p>
        </p:txBody>
      </p:sp>
      <p:sp>
        <p:nvSpPr>
          <p:cNvPr id="141" name="Google Shape;141;p19"/>
          <p:cNvSpPr/>
          <p:nvPr/>
        </p:nvSpPr>
        <p:spPr>
          <a:xfrm>
            <a:off x="5302040" y="2126531"/>
            <a:ext cx="387772"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−1.0%</a:t>
            </a:r>
            <a:endParaRPr b="0" i="0" sz="900" u="none" cap="none" strike="noStrike">
              <a:solidFill>
                <a:schemeClr val="dk1"/>
              </a:solidFill>
              <a:latin typeface="Calibri"/>
              <a:ea typeface="Calibri"/>
              <a:cs typeface="Calibri"/>
              <a:sym typeface="Calibri"/>
            </a:endParaRPr>
          </a:p>
        </p:txBody>
      </p:sp>
      <p:sp>
        <p:nvSpPr>
          <p:cNvPr id="142" name="Google Shape;142;p19"/>
          <p:cNvSpPr/>
          <p:nvPr/>
        </p:nvSpPr>
        <p:spPr>
          <a:xfrm>
            <a:off x="7162800" y="1378818"/>
            <a:ext cx="704850" cy="704850"/>
          </a:xfrm>
          <a:prstGeom prst="roundRect">
            <a:avLst>
              <a:gd fmla="val 50000"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3" name="Google Shape;143;p19"/>
          <p:cNvSpPr/>
          <p:nvPr/>
        </p:nvSpPr>
        <p:spPr>
          <a:xfrm>
            <a:off x="7263854" y="1624570"/>
            <a:ext cx="540841"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12,246</a:t>
            </a:r>
            <a:endParaRPr b="0" i="0" sz="1200" u="none" cap="none" strike="noStrike">
              <a:solidFill>
                <a:schemeClr val="dk1"/>
              </a:solidFill>
              <a:latin typeface="Calibri"/>
              <a:ea typeface="Calibri"/>
              <a:cs typeface="Calibri"/>
              <a:sym typeface="Calibri"/>
            </a:endParaRPr>
          </a:p>
        </p:txBody>
      </p:sp>
      <p:sp>
        <p:nvSpPr>
          <p:cNvPr id="144" name="Google Shape;144;p19"/>
          <p:cNvSpPr/>
          <p:nvPr/>
        </p:nvSpPr>
        <p:spPr>
          <a:xfrm>
            <a:off x="7340390" y="2126531"/>
            <a:ext cx="387772"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−0.3%</a:t>
            </a:r>
            <a:endParaRPr b="0" i="0" sz="900" u="none" cap="none" strike="noStrike">
              <a:solidFill>
                <a:schemeClr val="dk1"/>
              </a:solidFill>
              <a:latin typeface="Calibri"/>
              <a:ea typeface="Calibri"/>
              <a:cs typeface="Calibri"/>
              <a:sym typeface="Calibri"/>
            </a:endParaRPr>
          </a:p>
        </p:txBody>
      </p:sp>
      <p:sp>
        <p:nvSpPr>
          <p:cNvPr id="145" name="Google Shape;145;p19"/>
          <p:cNvSpPr/>
          <p:nvPr/>
        </p:nvSpPr>
        <p:spPr>
          <a:xfrm>
            <a:off x="609600" y="2622166"/>
            <a:ext cx="1864043"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Transfers</a:t>
            </a:r>
            <a:endParaRPr b="0" i="0" sz="1200" u="none" cap="none" strike="noStrike">
              <a:solidFill>
                <a:schemeClr val="dk1"/>
              </a:solidFill>
              <a:latin typeface="Calibri"/>
              <a:ea typeface="Calibri"/>
              <a:cs typeface="Calibri"/>
              <a:sym typeface="Calibri"/>
            </a:endParaRPr>
          </a:p>
        </p:txBody>
      </p:sp>
      <p:sp>
        <p:nvSpPr>
          <p:cNvPr id="146" name="Google Shape;146;p19"/>
          <p:cNvSpPr/>
          <p:nvPr/>
        </p:nvSpPr>
        <p:spPr>
          <a:xfrm>
            <a:off x="609600" y="2854561"/>
            <a:ext cx="1864043"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Number of transfers</a:t>
            </a:r>
            <a:endParaRPr b="0" i="0" sz="900" u="none" cap="none" strike="noStrike">
              <a:solidFill>
                <a:schemeClr val="dk1"/>
              </a:solidFill>
              <a:latin typeface="Calibri"/>
              <a:ea typeface="Calibri"/>
              <a:cs typeface="Calibri"/>
              <a:sym typeface="Calibri"/>
            </a:endParaRPr>
          </a:p>
        </p:txBody>
      </p:sp>
      <p:sp>
        <p:nvSpPr>
          <p:cNvPr id="147" name="Google Shape;147;p19"/>
          <p:cNvSpPr/>
          <p:nvPr/>
        </p:nvSpPr>
        <p:spPr>
          <a:xfrm>
            <a:off x="3081338" y="2362163"/>
            <a:ext cx="714375" cy="714375"/>
          </a:xfrm>
          <a:prstGeom prst="roundRect">
            <a:avLst>
              <a:gd fmla="val 50000"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19"/>
          <p:cNvSpPr/>
          <p:nvPr/>
        </p:nvSpPr>
        <p:spPr>
          <a:xfrm>
            <a:off x="3187154" y="2612677"/>
            <a:ext cx="540841"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55,226</a:t>
            </a:r>
            <a:endParaRPr b="0" i="0" sz="1200" u="none" cap="none" strike="noStrike">
              <a:solidFill>
                <a:schemeClr val="dk1"/>
              </a:solidFill>
              <a:latin typeface="Calibri"/>
              <a:ea typeface="Calibri"/>
              <a:cs typeface="Calibri"/>
              <a:sym typeface="Calibri"/>
            </a:endParaRPr>
          </a:p>
        </p:txBody>
      </p:sp>
      <p:sp>
        <p:nvSpPr>
          <p:cNvPr id="149" name="Google Shape;149;p19"/>
          <p:cNvSpPr/>
          <p:nvPr/>
        </p:nvSpPr>
        <p:spPr>
          <a:xfrm>
            <a:off x="5133975" y="2376450"/>
            <a:ext cx="685800" cy="685800"/>
          </a:xfrm>
          <a:prstGeom prst="roundRect">
            <a:avLst>
              <a:gd fmla="val 50000"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9"/>
          <p:cNvSpPr/>
          <p:nvPr/>
        </p:nvSpPr>
        <p:spPr>
          <a:xfrm>
            <a:off x="5225504" y="2612677"/>
            <a:ext cx="540842"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53,140</a:t>
            </a:r>
            <a:endParaRPr b="0" i="0" sz="1200" u="none" cap="none" strike="noStrike">
              <a:solidFill>
                <a:schemeClr val="dk1"/>
              </a:solidFill>
              <a:latin typeface="Calibri"/>
              <a:ea typeface="Calibri"/>
              <a:cs typeface="Calibri"/>
              <a:sym typeface="Calibri"/>
            </a:endParaRPr>
          </a:p>
        </p:txBody>
      </p:sp>
      <p:sp>
        <p:nvSpPr>
          <p:cNvPr id="151" name="Google Shape;151;p19"/>
          <p:cNvSpPr/>
          <p:nvPr/>
        </p:nvSpPr>
        <p:spPr>
          <a:xfrm>
            <a:off x="5302040" y="3114638"/>
            <a:ext cx="387772"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−3.8%</a:t>
            </a:r>
            <a:endParaRPr b="0" i="0" sz="900" u="none" cap="none" strike="noStrike">
              <a:solidFill>
                <a:schemeClr val="dk1"/>
              </a:solidFill>
              <a:latin typeface="Calibri"/>
              <a:ea typeface="Calibri"/>
              <a:cs typeface="Calibri"/>
              <a:sym typeface="Calibri"/>
            </a:endParaRPr>
          </a:p>
        </p:txBody>
      </p:sp>
      <p:sp>
        <p:nvSpPr>
          <p:cNvPr id="152" name="Google Shape;152;p19"/>
          <p:cNvSpPr/>
          <p:nvPr/>
        </p:nvSpPr>
        <p:spPr>
          <a:xfrm>
            <a:off x="7160419" y="2364544"/>
            <a:ext cx="709613" cy="709613"/>
          </a:xfrm>
          <a:prstGeom prst="roundRect">
            <a:avLst>
              <a:gd fmla="val 50000"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3" name="Google Shape;153;p19"/>
          <p:cNvSpPr/>
          <p:nvPr/>
        </p:nvSpPr>
        <p:spPr>
          <a:xfrm>
            <a:off x="7263854" y="2612677"/>
            <a:ext cx="540841"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54,723</a:t>
            </a:r>
            <a:endParaRPr b="0" i="0" sz="1200" u="none" cap="none" strike="noStrike">
              <a:solidFill>
                <a:schemeClr val="dk1"/>
              </a:solidFill>
              <a:latin typeface="Calibri"/>
              <a:ea typeface="Calibri"/>
              <a:cs typeface="Calibri"/>
              <a:sym typeface="Calibri"/>
            </a:endParaRPr>
          </a:p>
        </p:txBody>
      </p:sp>
      <p:sp>
        <p:nvSpPr>
          <p:cNvPr id="154" name="Google Shape;154;p19"/>
          <p:cNvSpPr/>
          <p:nvPr/>
        </p:nvSpPr>
        <p:spPr>
          <a:xfrm>
            <a:off x="7340390" y="3114638"/>
            <a:ext cx="387772"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+3.0%</a:t>
            </a:r>
            <a:endParaRPr b="0" i="0" sz="900" u="none" cap="none" strike="noStrike">
              <a:solidFill>
                <a:schemeClr val="dk1"/>
              </a:solidFill>
              <a:latin typeface="Calibri"/>
              <a:ea typeface="Calibri"/>
              <a:cs typeface="Calibri"/>
              <a:sym typeface="Calibri"/>
            </a:endParaRPr>
          </a:p>
        </p:txBody>
      </p:sp>
      <p:sp>
        <p:nvSpPr>
          <p:cNvPr id="155" name="Google Shape;155;p19"/>
          <p:cNvSpPr/>
          <p:nvPr/>
        </p:nvSpPr>
        <p:spPr>
          <a:xfrm>
            <a:off x="609600" y="3610273"/>
            <a:ext cx="1864043"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Value (CA$)</a:t>
            </a:r>
            <a:endParaRPr b="0" i="0" sz="1200" u="none" cap="none" strike="noStrike">
              <a:solidFill>
                <a:schemeClr val="dk1"/>
              </a:solidFill>
              <a:latin typeface="Calibri"/>
              <a:ea typeface="Calibri"/>
              <a:cs typeface="Calibri"/>
              <a:sym typeface="Calibri"/>
            </a:endParaRPr>
          </a:p>
        </p:txBody>
      </p:sp>
      <p:sp>
        <p:nvSpPr>
          <p:cNvPr id="156" name="Google Shape;156;p19"/>
          <p:cNvSpPr/>
          <p:nvPr/>
        </p:nvSpPr>
        <p:spPr>
          <a:xfrm>
            <a:off x="609600" y="3842668"/>
            <a:ext cx="1864043"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71A"/>
              </a:buClr>
              <a:buSzPts val="900"/>
              <a:buFont typeface="IBM Plex Sans"/>
              <a:buNone/>
            </a:pPr>
            <a:r>
              <a:rPr b="1" i="0" lang="en" sz="900" u="none" cap="none" strike="noStrike">
                <a:solidFill>
                  <a:srgbClr val="B8471A"/>
                </a:solidFill>
                <a:latin typeface="IBM Plex Sans"/>
                <a:ea typeface="IBM Plex Sans"/>
                <a:cs typeface="IBM Plex Sans"/>
                <a:sym typeface="IBM Plex Sans"/>
              </a:rPr>
              <a:t>Down 14.3%, Jan → Mar</a:t>
            </a:r>
            <a:endParaRPr b="0" i="0" sz="900" u="none" cap="none" strike="noStrike">
              <a:solidFill>
                <a:schemeClr val="dk1"/>
              </a:solidFill>
              <a:latin typeface="Calibri"/>
              <a:ea typeface="Calibri"/>
              <a:cs typeface="Calibri"/>
              <a:sym typeface="Calibri"/>
            </a:endParaRPr>
          </a:p>
        </p:txBody>
      </p:sp>
      <p:sp>
        <p:nvSpPr>
          <p:cNvPr id="157" name="Google Shape;157;p19"/>
          <p:cNvSpPr/>
          <p:nvPr/>
        </p:nvSpPr>
        <p:spPr>
          <a:xfrm>
            <a:off x="3081338" y="3350270"/>
            <a:ext cx="714375" cy="714375"/>
          </a:xfrm>
          <a:prstGeom prst="roundRect">
            <a:avLst>
              <a:gd fmla="val 50000" name="adj"/>
            </a:avLst>
          </a:prstGeom>
          <a:solidFill>
            <a:srgbClr val="E6622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8" name="Google Shape;158;p19"/>
          <p:cNvSpPr/>
          <p:nvPr/>
        </p:nvSpPr>
        <p:spPr>
          <a:xfrm>
            <a:off x="3170597" y="3600785"/>
            <a:ext cx="573919"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$21.9M</a:t>
            </a:r>
            <a:endParaRPr b="0" i="0" sz="1200" u="none" cap="none" strike="noStrike">
              <a:solidFill>
                <a:schemeClr val="dk1"/>
              </a:solidFill>
              <a:latin typeface="Calibri"/>
              <a:ea typeface="Calibri"/>
              <a:cs typeface="Calibri"/>
              <a:sym typeface="Calibri"/>
            </a:endParaRPr>
          </a:p>
        </p:txBody>
      </p:sp>
      <p:sp>
        <p:nvSpPr>
          <p:cNvPr id="159" name="Google Shape;159;p19"/>
          <p:cNvSpPr/>
          <p:nvPr/>
        </p:nvSpPr>
        <p:spPr>
          <a:xfrm>
            <a:off x="5162550" y="3393133"/>
            <a:ext cx="628650" cy="628650"/>
          </a:xfrm>
          <a:prstGeom prst="roundRect">
            <a:avLst>
              <a:gd fmla="val 50000" name="adj"/>
            </a:avLst>
          </a:prstGeom>
          <a:solidFill>
            <a:srgbClr val="E6622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9"/>
          <p:cNvSpPr/>
          <p:nvPr/>
        </p:nvSpPr>
        <p:spPr>
          <a:xfrm>
            <a:off x="5208947" y="3600785"/>
            <a:ext cx="573919"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$19.3M</a:t>
            </a:r>
            <a:endParaRPr b="0" i="0" sz="1200" u="none" cap="none" strike="noStrike">
              <a:solidFill>
                <a:schemeClr val="dk1"/>
              </a:solidFill>
              <a:latin typeface="Calibri"/>
              <a:ea typeface="Calibri"/>
              <a:cs typeface="Calibri"/>
              <a:sym typeface="Calibri"/>
            </a:endParaRPr>
          </a:p>
        </p:txBody>
      </p:sp>
      <p:sp>
        <p:nvSpPr>
          <p:cNvPr id="161" name="Google Shape;161;p19"/>
          <p:cNvSpPr/>
          <p:nvPr/>
        </p:nvSpPr>
        <p:spPr>
          <a:xfrm>
            <a:off x="5267735" y="4102745"/>
            <a:ext cx="4563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71A"/>
              </a:buClr>
              <a:buSzPts val="900"/>
              <a:buFont typeface="IBM Plex Sans"/>
              <a:buNone/>
            </a:pPr>
            <a:r>
              <a:rPr b="1" i="0" lang="en" sz="900" u="none" cap="none" strike="noStrike">
                <a:solidFill>
                  <a:srgbClr val="B8471A"/>
                </a:solidFill>
                <a:latin typeface="IBM Plex Sans"/>
                <a:ea typeface="IBM Plex Sans"/>
                <a:cs typeface="IBM Plex Sans"/>
                <a:sym typeface="IBM Plex Sans"/>
              </a:rPr>
              <a:t>−12.1%</a:t>
            </a:r>
            <a:endParaRPr b="0" i="0" sz="900" u="none" cap="none" strike="noStrike">
              <a:solidFill>
                <a:schemeClr val="dk1"/>
              </a:solidFill>
              <a:latin typeface="Calibri"/>
              <a:ea typeface="Calibri"/>
              <a:cs typeface="Calibri"/>
              <a:sym typeface="Calibri"/>
            </a:endParaRPr>
          </a:p>
        </p:txBody>
      </p:sp>
      <p:sp>
        <p:nvSpPr>
          <p:cNvPr id="162" name="Google Shape;162;p19"/>
          <p:cNvSpPr/>
          <p:nvPr/>
        </p:nvSpPr>
        <p:spPr>
          <a:xfrm>
            <a:off x="7208044" y="3400277"/>
            <a:ext cx="614363" cy="614363"/>
          </a:xfrm>
          <a:prstGeom prst="roundRect">
            <a:avLst>
              <a:gd fmla="val 50000" name="adj"/>
            </a:avLst>
          </a:prstGeom>
          <a:solidFill>
            <a:srgbClr val="E6622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3" name="Google Shape;163;p19"/>
          <p:cNvSpPr/>
          <p:nvPr/>
        </p:nvSpPr>
        <p:spPr>
          <a:xfrm>
            <a:off x="7247297" y="3600785"/>
            <a:ext cx="573919"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$18.8M</a:t>
            </a:r>
            <a:endParaRPr b="0" i="0" sz="1200" u="none" cap="none" strike="noStrike">
              <a:solidFill>
                <a:schemeClr val="dk1"/>
              </a:solidFill>
              <a:latin typeface="Calibri"/>
              <a:ea typeface="Calibri"/>
              <a:cs typeface="Calibri"/>
              <a:sym typeface="Calibri"/>
            </a:endParaRPr>
          </a:p>
        </p:txBody>
      </p:sp>
      <p:sp>
        <p:nvSpPr>
          <p:cNvPr id="164" name="Google Shape;164;p19"/>
          <p:cNvSpPr/>
          <p:nvPr/>
        </p:nvSpPr>
        <p:spPr>
          <a:xfrm>
            <a:off x="7340390" y="4102745"/>
            <a:ext cx="387772"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8471A"/>
              </a:buClr>
              <a:buSzPts val="900"/>
              <a:buFont typeface="IBM Plex Sans"/>
              <a:buNone/>
            </a:pPr>
            <a:r>
              <a:rPr b="1" i="0" lang="en" sz="900" u="none" cap="none" strike="noStrike">
                <a:solidFill>
                  <a:srgbClr val="B8471A"/>
                </a:solidFill>
                <a:latin typeface="IBM Plex Sans"/>
                <a:ea typeface="IBM Plex Sans"/>
                <a:cs typeface="IBM Plex Sans"/>
                <a:sym typeface="IBM Plex Sans"/>
              </a:rPr>
              <a:t>−2.5%</a:t>
            </a:r>
            <a:endParaRPr b="0" i="0" sz="900" u="none" cap="none" strike="noStrike">
              <a:solidFill>
                <a:schemeClr val="dk1"/>
              </a:solidFill>
              <a:latin typeface="Calibri"/>
              <a:ea typeface="Calibri"/>
              <a:cs typeface="Calibri"/>
              <a:sym typeface="Calibri"/>
            </a:endParaRPr>
          </a:p>
        </p:txBody>
      </p:sp>
      <p:sp>
        <p:nvSpPr>
          <p:cNvPr id="165" name="Google Shape;165;p19"/>
          <p:cNvSpPr/>
          <p:nvPr/>
        </p:nvSpPr>
        <p:spPr>
          <a:xfrm>
            <a:off x="4039955" y="1130647"/>
            <a:ext cx="2722484" cy="17904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FEBRUARY</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170" name="Shape 170"/>
        <p:cNvGrpSpPr/>
        <p:nvPr/>
      </p:nvGrpSpPr>
      <p:grpSpPr>
        <a:xfrm>
          <a:off x="0" y="0"/>
          <a:ext cx="0" cy="0"/>
          <a:chOff x="0" y="0"/>
          <a:chExt cx="0" cy="0"/>
        </a:xfrm>
      </p:grpSpPr>
      <p:sp>
        <p:nvSpPr>
          <p:cNvPr id="171" name="Google Shape;171;p20"/>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Transfers shrank as the naira weakened</a:t>
            </a:r>
            <a:endParaRPr b="0" i="0" sz="2700" u="none" cap="none" strike="noStrike">
              <a:solidFill>
                <a:schemeClr val="dk1"/>
              </a:solidFill>
              <a:latin typeface="Calibri"/>
              <a:ea typeface="Calibri"/>
              <a:cs typeface="Calibri"/>
              <a:sym typeface="Calibri"/>
            </a:endParaRPr>
          </a:p>
        </p:txBody>
      </p:sp>
      <p:sp>
        <p:nvSpPr>
          <p:cNvPr id="172" name="Google Shape;172;p20"/>
          <p:cNvSpPr/>
          <p:nvPr/>
        </p:nvSpPr>
        <p:spPr>
          <a:xfrm>
            <a:off x="611981" y="1217749"/>
            <a:ext cx="3881438" cy="2370721"/>
          </a:xfrm>
          <a:prstGeom prst="roundRect">
            <a:avLst>
              <a:gd fmla="val 3114"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3" name="Google Shape;173;p20"/>
          <p:cNvSpPr/>
          <p:nvPr/>
        </p:nvSpPr>
        <p:spPr>
          <a:xfrm>
            <a:off x="804863" y="1410630"/>
            <a:ext cx="3600545" cy="20192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Average CAD→NGN transfer (CA$)</a:t>
            </a:r>
            <a:endParaRPr b="0" i="0" sz="1200" u="none" cap="none" strike="noStrike">
              <a:solidFill>
                <a:schemeClr val="dk1"/>
              </a:solidFill>
              <a:latin typeface="Calibri"/>
              <a:ea typeface="Calibri"/>
              <a:cs typeface="Calibri"/>
              <a:sym typeface="Calibri"/>
            </a:endParaRPr>
          </a:p>
        </p:txBody>
      </p:sp>
      <p:sp>
        <p:nvSpPr>
          <p:cNvPr id="174" name="Google Shape;174;p20"/>
          <p:cNvSpPr/>
          <p:nvPr/>
        </p:nvSpPr>
        <p:spPr>
          <a:xfrm>
            <a:off x="1166441" y="1707803"/>
            <a:ext cx="403883"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$236</a:t>
            </a:r>
            <a:endParaRPr b="0" i="0" sz="1200" u="none" cap="none" strike="noStrike">
              <a:solidFill>
                <a:schemeClr val="dk1"/>
              </a:solidFill>
              <a:latin typeface="Calibri"/>
              <a:ea typeface="Calibri"/>
              <a:cs typeface="Calibri"/>
              <a:sym typeface="Calibri"/>
            </a:endParaRPr>
          </a:p>
        </p:txBody>
      </p:sp>
      <p:sp>
        <p:nvSpPr>
          <p:cNvPr id="175" name="Google Shape;175;p20"/>
          <p:cNvSpPr/>
          <p:nvPr/>
        </p:nvSpPr>
        <p:spPr>
          <a:xfrm>
            <a:off x="1063601" y="1959248"/>
            <a:ext cx="571500" cy="1238250"/>
          </a:xfrm>
          <a:prstGeom prst="roundRect">
            <a:avLst>
              <a:gd fmla="val 3333"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6" name="Google Shape;176;p20"/>
          <p:cNvSpPr/>
          <p:nvPr/>
        </p:nvSpPr>
        <p:spPr>
          <a:xfrm>
            <a:off x="1257188" y="3235598"/>
            <a:ext cx="22238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Jan</a:t>
            </a:r>
            <a:endParaRPr b="0" i="0" sz="900" u="none" cap="none" strike="noStrike">
              <a:solidFill>
                <a:schemeClr val="dk1"/>
              </a:solidFill>
              <a:latin typeface="Calibri"/>
              <a:ea typeface="Calibri"/>
              <a:cs typeface="Calibri"/>
              <a:sym typeface="Calibri"/>
            </a:endParaRPr>
          </a:p>
        </p:txBody>
      </p:sp>
      <p:sp>
        <p:nvSpPr>
          <p:cNvPr id="177" name="Google Shape;177;p20"/>
          <p:cNvSpPr/>
          <p:nvPr/>
        </p:nvSpPr>
        <p:spPr>
          <a:xfrm>
            <a:off x="2369753" y="1845915"/>
            <a:ext cx="403883"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$210</a:t>
            </a:r>
            <a:endParaRPr b="0" i="0" sz="1200" u="none" cap="none" strike="noStrike">
              <a:solidFill>
                <a:schemeClr val="dk1"/>
              </a:solidFill>
              <a:latin typeface="Calibri"/>
              <a:ea typeface="Calibri"/>
              <a:cs typeface="Calibri"/>
              <a:sym typeface="Calibri"/>
            </a:endParaRPr>
          </a:p>
        </p:txBody>
      </p:sp>
      <p:sp>
        <p:nvSpPr>
          <p:cNvPr id="178" name="Google Shape;178;p20"/>
          <p:cNvSpPr/>
          <p:nvPr/>
        </p:nvSpPr>
        <p:spPr>
          <a:xfrm>
            <a:off x="2266913" y="2097360"/>
            <a:ext cx="571500" cy="1100138"/>
          </a:xfrm>
          <a:prstGeom prst="roundRect">
            <a:avLst>
              <a:gd fmla="val 3333"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0"/>
          <p:cNvSpPr/>
          <p:nvPr/>
        </p:nvSpPr>
        <p:spPr>
          <a:xfrm>
            <a:off x="2457599" y="3235598"/>
            <a:ext cx="228190"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Feb</a:t>
            </a:r>
            <a:endParaRPr b="0" i="0" sz="900" u="none" cap="none" strike="noStrike">
              <a:solidFill>
                <a:schemeClr val="dk1"/>
              </a:solidFill>
              <a:latin typeface="Calibri"/>
              <a:ea typeface="Calibri"/>
              <a:cs typeface="Calibri"/>
              <a:sym typeface="Calibri"/>
            </a:endParaRPr>
          </a:p>
        </p:txBody>
      </p:sp>
      <p:sp>
        <p:nvSpPr>
          <p:cNvPr id="180" name="Google Shape;180;p20"/>
          <p:cNvSpPr/>
          <p:nvPr/>
        </p:nvSpPr>
        <p:spPr>
          <a:xfrm>
            <a:off x="3573103" y="1869728"/>
            <a:ext cx="403882"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$205</a:t>
            </a:r>
            <a:endParaRPr b="0" i="0" sz="1200" u="none" cap="none" strike="noStrike">
              <a:solidFill>
                <a:schemeClr val="dk1"/>
              </a:solidFill>
              <a:latin typeface="Calibri"/>
              <a:ea typeface="Calibri"/>
              <a:cs typeface="Calibri"/>
              <a:sym typeface="Calibri"/>
            </a:endParaRPr>
          </a:p>
        </p:txBody>
      </p:sp>
      <p:sp>
        <p:nvSpPr>
          <p:cNvPr id="181" name="Google Shape;181;p20"/>
          <p:cNvSpPr/>
          <p:nvPr/>
        </p:nvSpPr>
        <p:spPr>
          <a:xfrm>
            <a:off x="3470263" y="2121173"/>
            <a:ext cx="571500" cy="1076325"/>
          </a:xfrm>
          <a:prstGeom prst="roundRect">
            <a:avLst>
              <a:gd fmla="val 3333"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20"/>
          <p:cNvSpPr/>
          <p:nvPr/>
        </p:nvSpPr>
        <p:spPr>
          <a:xfrm>
            <a:off x="3658084" y="3235598"/>
            <a:ext cx="233921"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Mar</a:t>
            </a:r>
            <a:endParaRPr b="0" i="0" sz="900" u="none" cap="none" strike="noStrike">
              <a:solidFill>
                <a:schemeClr val="dk1"/>
              </a:solidFill>
              <a:latin typeface="Calibri"/>
              <a:ea typeface="Calibri"/>
              <a:cs typeface="Calibri"/>
              <a:sym typeface="Calibri"/>
            </a:endParaRPr>
          </a:p>
        </p:txBody>
      </p:sp>
      <p:sp>
        <p:nvSpPr>
          <p:cNvPr id="183" name="Google Shape;183;p20"/>
          <p:cNvSpPr/>
          <p:nvPr/>
        </p:nvSpPr>
        <p:spPr>
          <a:xfrm>
            <a:off x="4650581" y="1217749"/>
            <a:ext cx="3881438" cy="2370721"/>
          </a:xfrm>
          <a:prstGeom prst="roundRect">
            <a:avLst>
              <a:gd fmla="val 3114"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4" name="Google Shape;184;p20"/>
          <p:cNvSpPr/>
          <p:nvPr/>
        </p:nvSpPr>
        <p:spPr>
          <a:xfrm>
            <a:off x="4843463" y="1410630"/>
            <a:ext cx="3600545" cy="20192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Naira per Canadian dollar (average rate)</a:t>
            </a:r>
            <a:endParaRPr b="0" i="0" sz="1200" u="none" cap="none" strike="noStrike">
              <a:solidFill>
                <a:schemeClr val="dk1"/>
              </a:solidFill>
              <a:latin typeface="Calibri"/>
              <a:ea typeface="Calibri"/>
              <a:cs typeface="Calibri"/>
              <a:sym typeface="Calibri"/>
            </a:endParaRPr>
          </a:p>
        </p:txBody>
      </p:sp>
      <p:sp>
        <p:nvSpPr>
          <p:cNvPr id="185" name="Google Shape;185;p20"/>
          <p:cNvSpPr/>
          <p:nvPr/>
        </p:nvSpPr>
        <p:spPr>
          <a:xfrm>
            <a:off x="5250768" y="1898303"/>
            <a:ext cx="312428"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977</a:t>
            </a:r>
            <a:endParaRPr b="0" i="0" sz="1200" u="none" cap="none" strike="noStrike">
              <a:solidFill>
                <a:schemeClr val="dk1"/>
              </a:solidFill>
              <a:latin typeface="Calibri"/>
              <a:ea typeface="Calibri"/>
              <a:cs typeface="Calibri"/>
              <a:sym typeface="Calibri"/>
            </a:endParaRPr>
          </a:p>
        </p:txBody>
      </p:sp>
      <p:sp>
        <p:nvSpPr>
          <p:cNvPr id="186" name="Google Shape;186;p20"/>
          <p:cNvSpPr/>
          <p:nvPr/>
        </p:nvSpPr>
        <p:spPr>
          <a:xfrm>
            <a:off x="5102201" y="2149748"/>
            <a:ext cx="571500" cy="1047750"/>
          </a:xfrm>
          <a:prstGeom prst="roundRect">
            <a:avLst>
              <a:gd fmla="val 3333" name="adj"/>
            </a:avLst>
          </a:prstGeom>
          <a:solidFill>
            <a:srgbClr val="E6622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0"/>
          <p:cNvSpPr/>
          <p:nvPr/>
        </p:nvSpPr>
        <p:spPr>
          <a:xfrm>
            <a:off x="5295788" y="3235598"/>
            <a:ext cx="222386"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Jan</a:t>
            </a:r>
            <a:endParaRPr b="0" i="0" sz="900" u="none" cap="none" strike="noStrike">
              <a:solidFill>
                <a:schemeClr val="dk1"/>
              </a:solidFill>
              <a:latin typeface="Calibri"/>
              <a:ea typeface="Calibri"/>
              <a:cs typeface="Calibri"/>
              <a:sym typeface="Calibri"/>
            </a:endParaRPr>
          </a:p>
        </p:txBody>
      </p:sp>
      <p:sp>
        <p:nvSpPr>
          <p:cNvPr id="188" name="Google Shape;188;p20"/>
          <p:cNvSpPr/>
          <p:nvPr/>
        </p:nvSpPr>
        <p:spPr>
          <a:xfrm>
            <a:off x="6385583" y="1707803"/>
            <a:ext cx="449424"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1,157</a:t>
            </a:r>
            <a:endParaRPr b="0" i="0" sz="1200" u="none" cap="none" strike="noStrike">
              <a:solidFill>
                <a:schemeClr val="dk1"/>
              </a:solidFill>
              <a:latin typeface="Calibri"/>
              <a:ea typeface="Calibri"/>
              <a:cs typeface="Calibri"/>
              <a:sym typeface="Calibri"/>
            </a:endParaRPr>
          </a:p>
        </p:txBody>
      </p:sp>
      <p:sp>
        <p:nvSpPr>
          <p:cNvPr id="189" name="Google Shape;189;p20"/>
          <p:cNvSpPr/>
          <p:nvPr/>
        </p:nvSpPr>
        <p:spPr>
          <a:xfrm>
            <a:off x="6305513" y="1959248"/>
            <a:ext cx="571500" cy="1238250"/>
          </a:xfrm>
          <a:prstGeom prst="roundRect">
            <a:avLst>
              <a:gd fmla="val 3333" name="adj"/>
            </a:avLst>
          </a:prstGeom>
          <a:solidFill>
            <a:srgbClr val="E6622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0" name="Google Shape;190;p20"/>
          <p:cNvSpPr/>
          <p:nvPr/>
        </p:nvSpPr>
        <p:spPr>
          <a:xfrm>
            <a:off x="6496199" y="3235598"/>
            <a:ext cx="228190"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Feb</a:t>
            </a:r>
            <a:endParaRPr b="0" i="0" sz="900" u="none" cap="none" strike="noStrike">
              <a:solidFill>
                <a:schemeClr val="dk1"/>
              </a:solidFill>
              <a:latin typeface="Calibri"/>
              <a:ea typeface="Calibri"/>
              <a:cs typeface="Calibri"/>
              <a:sym typeface="Calibri"/>
            </a:endParaRPr>
          </a:p>
        </p:txBody>
      </p:sp>
      <p:sp>
        <p:nvSpPr>
          <p:cNvPr id="191" name="Google Shape;191;p20"/>
          <p:cNvSpPr/>
          <p:nvPr/>
        </p:nvSpPr>
        <p:spPr>
          <a:xfrm>
            <a:off x="7588932" y="1769715"/>
            <a:ext cx="449424"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1,101</a:t>
            </a:r>
            <a:endParaRPr b="0" i="0" sz="1200" u="none" cap="none" strike="noStrike">
              <a:solidFill>
                <a:schemeClr val="dk1"/>
              </a:solidFill>
              <a:latin typeface="Calibri"/>
              <a:ea typeface="Calibri"/>
              <a:cs typeface="Calibri"/>
              <a:sym typeface="Calibri"/>
            </a:endParaRPr>
          </a:p>
        </p:txBody>
      </p:sp>
      <p:sp>
        <p:nvSpPr>
          <p:cNvPr id="192" name="Google Shape;192;p20"/>
          <p:cNvSpPr/>
          <p:nvPr/>
        </p:nvSpPr>
        <p:spPr>
          <a:xfrm>
            <a:off x="7508863" y="2021160"/>
            <a:ext cx="571500" cy="1176338"/>
          </a:xfrm>
          <a:prstGeom prst="roundRect">
            <a:avLst>
              <a:gd fmla="val 3333" name="adj"/>
            </a:avLst>
          </a:prstGeom>
          <a:solidFill>
            <a:srgbClr val="E6622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3" name="Google Shape;193;p20"/>
          <p:cNvSpPr/>
          <p:nvPr/>
        </p:nvSpPr>
        <p:spPr>
          <a:xfrm>
            <a:off x="7696684" y="3235598"/>
            <a:ext cx="233921"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Mar</a:t>
            </a:r>
            <a:endParaRPr b="0" i="0" sz="900" u="none" cap="none" strike="noStrike">
              <a:solidFill>
                <a:schemeClr val="dk1"/>
              </a:solidFill>
              <a:latin typeface="Calibri"/>
              <a:ea typeface="Calibri"/>
              <a:cs typeface="Calibri"/>
              <a:sym typeface="Calibri"/>
            </a:endParaRPr>
          </a:p>
        </p:txBody>
      </p:sp>
      <p:sp>
        <p:nvSpPr>
          <p:cNvPr id="194" name="Google Shape;194;p20"/>
          <p:cNvSpPr/>
          <p:nvPr/>
        </p:nvSpPr>
        <p:spPr>
          <a:xfrm>
            <a:off x="609600" y="3819451"/>
            <a:ext cx="8162544" cy="4457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Each dollar now buys more naira, so senders likely need fewer dollars per transfer. Our CAD value moves with the exchange rate.</a:t>
            </a:r>
            <a:endParaRPr b="0" i="0" sz="1200" u="none" cap="none" strike="noStrike">
              <a:solidFill>
                <a:schemeClr val="dk1"/>
              </a:solidFill>
              <a:latin typeface="Calibri"/>
              <a:ea typeface="Calibri"/>
              <a:cs typeface="Calibri"/>
              <a:sym typeface="Calibri"/>
            </a:endParaRPr>
          </a:p>
        </p:txBody>
      </p:sp>
      <p:sp>
        <p:nvSpPr>
          <p:cNvPr id="195" name="Google Shape;195;p20"/>
          <p:cNvSpPr/>
          <p:nvPr/>
        </p:nvSpPr>
        <p:spPr>
          <a:xfrm>
            <a:off x="609600" y="4678710"/>
            <a:ext cx="63769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A link over three months, not proof. NGN→CAD transfers also shrank: CA$1,358 → CA$1,240.</a:t>
            </a:r>
            <a:endParaRPr b="0" i="0" sz="900" u="none" cap="none" strike="noStrike">
              <a:solidFill>
                <a:schemeClr val="dk1"/>
              </a:solidFill>
              <a:latin typeface="Calibri"/>
              <a:ea typeface="Calibri"/>
              <a:cs typeface="Calibri"/>
              <a:sym typeface="Calibri"/>
            </a:endParaRPr>
          </a:p>
        </p:txBody>
      </p:sp>
      <p:pic>
        <p:nvPicPr>
          <p:cNvPr descr="SendFast logo" id="196" name="Google Shape;196;p20"/>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197" name="Google Shape;197;p20"/>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8292B"/>
        </a:solidFill>
      </p:bgPr>
    </p:bg>
    <p:spTree>
      <p:nvGrpSpPr>
        <p:cNvPr id="202" name="Shape 202"/>
        <p:cNvGrpSpPr/>
        <p:nvPr/>
      </p:nvGrpSpPr>
      <p:grpSpPr>
        <a:xfrm>
          <a:off x="0" y="0"/>
          <a:ext cx="0" cy="0"/>
          <a:chOff x="0" y="0"/>
          <a:chExt cx="0" cy="0"/>
        </a:xfrm>
      </p:grpSpPr>
      <p:sp>
        <p:nvSpPr>
          <p:cNvPr id="203" name="Google Shape;203;p21"/>
          <p:cNvSpPr/>
          <p:nvPr/>
        </p:nvSpPr>
        <p:spPr>
          <a:xfrm>
            <a:off x="609600" y="609600"/>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4B921"/>
              </a:buClr>
              <a:buSzPts val="900"/>
              <a:buFont typeface="IBM Plex Sans"/>
              <a:buNone/>
            </a:pPr>
            <a:r>
              <a:rPr b="1" i="0" lang="en" sz="900" u="none" cap="none" strike="noStrike">
                <a:solidFill>
                  <a:srgbClr val="F4B921"/>
                </a:solidFill>
                <a:latin typeface="IBM Plex Sans"/>
                <a:ea typeface="IBM Plex Sans"/>
                <a:cs typeface="IBM Plex Sans"/>
                <a:sym typeface="IBM Plex Sans"/>
              </a:rPr>
              <a:t>THE NGN→CAD CORRIDOR</a:t>
            </a:r>
            <a:endParaRPr b="0" i="0" sz="900" u="none" cap="none" strike="noStrike">
              <a:solidFill>
                <a:schemeClr val="dk1"/>
              </a:solidFill>
              <a:latin typeface="Calibri"/>
              <a:ea typeface="Calibri"/>
              <a:cs typeface="Calibri"/>
              <a:sym typeface="Calibri"/>
            </a:endParaRPr>
          </a:p>
        </p:txBody>
      </p:sp>
      <p:sp>
        <p:nvSpPr>
          <p:cNvPr id="204" name="Google Shape;204;p21"/>
          <p:cNvSpPr/>
          <p:nvPr/>
        </p:nvSpPr>
        <p:spPr>
          <a:xfrm>
            <a:off x="609600" y="1750703"/>
            <a:ext cx="7848600" cy="127635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7F6F2"/>
              </a:buClr>
              <a:buSzPts val="4500"/>
              <a:buFont typeface="Space Grotesk"/>
              <a:buNone/>
            </a:pPr>
            <a:r>
              <a:rPr b="1" i="0" lang="en" sz="4500" u="none" cap="none" strike="noStrike">
                <a:solidFill>
                  <a:srgbClr val="F7F6F2"/>
                </a:solidFill>
                <a:latin typeface="Space Grotesk"/>
                <a:ea typeface="Space Grotesk"/>
                <a:cs typeface="Space Grotesk"/>
                <a:sym typeface="Space Grotesk"/>
              </a:rPr>
              <a:t>13.5% of transfers.</a:t>
            </a:r>
            <a:endParaRPr b="0" i="0" sz="45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4B921"/>
              </a:buClr>
              <a:buSzPts val="4500"/>
              <a:buFont typeface="Space Grotesk"/>
              <a:buNone/>
            </a:pPr>
            <a:r>
              <a:rPr b="1" i="0" lang="en" sz="4500" u="none" cap="none" strike="noStrike">
                <a:solidFill>
                  <a:srgbClr val="F4B921"/>
                </a:solidFill>
                <a:latin typeface="Space Grotesk"/>
                <a:ea typeface="Space Grotesk"/>
                <a:cs typeface="Space Grotesk"/>
                <a:sym typeface="Space Grotesk"/>
              </a:rPr>
              <a:t>48% of value.</a:t>
            </a:r>
            <a:endParaRPr b="0" i="0" sz="4500" u="none" cap="none" strike="noStrike">
              <a:solidFill>
                <a:schemeClr val="dk1"/>
              </a:solidFill>
              <a:latin typeface="Calibri"/>
              <a:ea typeface="Calibri"/>
              <a:cs typeface="Calibri"/>
              <a:sym typeface="Calibri"/>
            </a:endParaRPr>
          </a:p>
        </p:txBody>
      </p:sp>
      <p:sp>
        <p:nvSpPr>
          <p:cNvPr id="205" name="Google Shape;205;p21"/>
          <p:cNvSpPr/>
          <p:nvPr/>
        </p:nvSpPr>
        <p:spPr>
          <a:xfrm>
            <a:off x="609600" y="3989115"/>
            <a:ext cx="7358062" cy="563835"/>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9CCD0"/>
              </a:buClr>
              <a:buSzPts val="1700"/>
              <a:buFont typeface="IBM Plex Sans"/>
              <a:buNone/>
            </a:pPr>
            <a:r>
              <a:rPr b="0" i="0" lang="en" sz="1700" u="none" cap="none" strike="noStrike">
                <a:solidFill>
                  <a:srgbClr val="C9CCD0"/>
                </a:solidFill>
                <a:latin typeface="IBM Plex Sans"/>
                <a:ea typeface="IBM Plex Sans"/>
                <a:cs typeface="IBM Plex Sans"/>
                <a:sym typeface="IBM Plex Sans"/>
              </a:rPr>
              <a:t>Transfers from Nigeria to Canada average CA$1,300, six times the reverse direction. 40% are school-related, most likely tuition in Canada.</a:t>
            </a:r>
            <a:endParaRPr b="0" i="0" sz="1700" u="none" cap="none" strike="noStrike">
              <a:solidFill>
                <a:schemeClr val="dk1"/>
              </a:solidFill>
              <a:latin typeface="Calibri"/>
              <a:ea typeface="Calibri"/>
              <a:cs typeface="Calibri"/>
              <a:sym typeface="Calibri"/>
            </a:endParaRPr>
          </a:p>
        </p:txBody>
      </p:sp>
      <p:pic>
        <p:nvPicPr>
          <p:cNvPr descr="SendFast logo" id="206" name="Google Shape;206;p21"/>
          <p:cNvPicPr preferRelativeResize="0"/>
          <p:nvPr/>
        </p:nvPicPr>
        <p:blipFill rotWithShape="1">
          <a:blip r:embed="rId3">
            <a:alphaModFix/>
          </a:blip>
          <a:srcRect b="-34" l="0" r="0" t="-34"/>
          <a:stretch/>
        </p:blipFill>
        <p:spPr>
          <a:xfrm>
            <a:off x="7496175" y="4705350"/>
            <a:ext cx="1038225" cy="152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11" name="Shape 211"/>
        <p:cNvGrpSpPr/>
        <p:nvPr/>
      </p:nvGrpSpPr>
      <p:grpSpPr>
        <a:xfrm>
          <a:off x="0" y="0"/>
          <a:ext cx="0" cy="0"/>
          <a:chOff x="0" y="0"/>
          <a:chExt cx="0" cy="0"/>
        </a:xfrm>
      </p:grpSpPr>
      <p:sp>
        <p:nvSpPr>
          <p:cNvPr id="212" name="Google Shape;212;p22"/>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Two corridors, two businesses</a:t>
            </a:r>
            <a:endParaRPr b="0" i="0" sz="2700" u="none" cap="none" strike="noStrike">
              <a:solidFill>
                <a:schemeClr val="dk1"/>
              </a:solidFill>
              <a:latin typeface="Calibri"/>
              <a:ea typeface="Calibri"/>
              <a:cs typeface="Calibri"/>
              <a:sym typeface="Calibri"/>
            </a:endParaRPr>
          </a:p>
        </p:txBody>
      </p:sp>
      <p:graphicFrame>
        <p:nvGraphicFramePr>
          <p:cNvPr id="213" name="Google Shape;213;p22"/>
          <p:cNvGraphicFramePr/>
          <p:nvPr/>
        </p:nvGraphicFramePr>
        <p:xfrm>
          <a:off x="619125" y="1224892"/>
          <a:ext cx="3000000" cy="3000000"/>
        </p:xfrm>
        <a:graphic>
          <a:graphicData uri="http://schemas.openxmlformats.org/drawingml/2006/table">
            <a:tbl>
              <a:tblPr>
                <a:noFill/>
                <a:tableStyleId>{B93A6239-3BBD-49CD-92A5-3A69BBA6A7D1}</a:tableStyleId>
              </a:tblPr>
              <a:tblGrid>
                <a:gridCol w="3166100"/>
                <a:gridCol w="2374575"/>
                <a:gridCol w="2374575"/>
              </a:tblGrid>
              <a:tr h="329500">
                <a:tc>
                  <a:txBody>
                    <a:bodyPr/>
                    <a:lstStyle/>
                    <a:p>
                      <a:pPr indent="0" lvl="0" marL="0" marR="0" rtl="0" algn="l">
                        <a:lnSpc>
                          <a:spcPct val="140000"/>
                        </a:lnSpc>
                        <a:spcBef>
                          <a:spcPts val="0"/>
                        </a:spcBef>
                        <a:spcAft>
                          <a:spcPts val="0"/>
                        </a:spcAft>
                        <a:buClr>
                          <a:srgbClr val="28292B"/>
                        </a:buClr>
                        <a:buSzPts val="1200"/>
                        <a:buFont typeface="IBM Plex Sans"/>
                        <a:buNone/>
                      </a:pPr>
                      <a:r>
                        <a:rPr b="1" lang="en" sz="1200" u="none" cap="none" strike="noStrike">
                          <a:solidFill>
                            <a:srgbClr val="28292B"/>
                          </a:solidFill>
                          <a:latin typeface="IBM Plex Sans"/>
                          <a:ea typeface="IBM Plex Sans"/>
                          <a:cs typeface="IBM Plex Sans"/>
                          <a:sym typeface="IBM Plex Sans"/>
                        </a:rPr>
                        <a:t>Q1 2024</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B7B6B3"/>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7B6B3"/>
                      </a:solidFill>
                      <a:prstDash val="solid"/>
                      <a:round/>
                      <a:headEnd len="sm" w="sm" type="none"/>
                      <a:tailEnd len="sm" w="sm" type="none"/>
                    </a:lnB>
                    <a:solidFill>
                      <a:srgbClr val="E5E4E0"/>
                    </a:solidFill>
                  </a:tcPr>
                </a:tc>
                <a:tc>
                  <a:txBody>
                    <a:bodyPr/>
                    <a:lstStyle/>
                    <a:p>
                      <a:pPr indent="0" lvl="0" marL="0" marR="0" rtl="0" algn="r">
                        <a:lnSpc>
                          <a:spcPct val="140000"/>
                        </a:lnSpc>
                        <a:spcBef>
                          <a:spcPts val="0"/>
                        </a:spcBef>
                        <a:spcAft>
                          <a:spcPts val="0"/>
                        </a:spcAft>
                        <a:buClr>
                          <a:srgbClr val="28292B"/>
                        </a:buClr>
                        <a:buSzPts val="1200"/>
                        <a:buFont typeface="IBM Plex Sans"/>
                        <a:buNone/>
                      </a:pPr>
                      <a:r>
                        <a:rPr b="1" lang="en" sz="1200" u="none" cap="none" strike="noStrike">
                          <a:solidFill>
                            <a:srgbClr val="28292B"/>
                          </a:solidFill>
                          <a:latin typeface="IBM Plex Sans"/>
                          <a:ea typeface="IBM Plex Sans"/>
                          <a:cs typeface="IBM Plex Sans"/>
                          <a:sym typeface="IBM Plex Sans"/>
                        </a:rPr>
                        <a:t>CAD→NGN</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B7B6B3"/>
                      </a:solidFill>
                      <a:prstDash val="solid"/>
                      <a:round/>
                      <a:headEnd len="sm" w="sm" type="none"/>
                      <a:tailEnd len="sm" w="sm" type="none"/>
                    </a:lnL>
                    <a:lnR cap="flat" cmpd="sng" w="12700">
                      <a:solidFill>
                        <a:srgbClr val="B7B6B3"/>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7B6B3"/>
                      </a:solidFill>
                      <a:prstDash val="solid"/>
                      <a:round/>
                      <a:headEnd len="sm" w="sm" type="none"/>
                      <a:tailEnd len="sm" w="sm" type="none"/>
                    </a:lnB>
                    <a:solidFill>
                      <a:srgbClr val="E5E4E0"/>
                    </a:solidFill>
                  </a:tcPr>
                </a:tc>
                <a:tc>
                  <a:txBody>
                    <a:bodyPr/>
                    <a:lstStyle/>
                    <a:p>
                      <a:pPr indent="0" lvl="0" marL="0" marR="0" rtl="0" algn="r">
                        <a:lnSpc>
                          <a:spcPct val="140000"/>
                        </a:lnSpc>
                        <a:spcBef>
                          <a:spcPts val="0"/>
                        </a:spcBef>
                        <a:spcAft>
                          <a:spcPts val="0"/>
                        </a:spcAft>
                        <a:buClr>
                          <a:srgbClr val="28292B"/>
                        </a:buClr>
                        <a:buSzPts val="1200"/>
                        <a:buFont typeface="IBM Plex Sans"/>
                        <a:buNone/>
                      </a:pPr>
                      <a:r>
                        <a:rPr b="1" lang="en" sz="1200" u="none" cap="none" strike="noStrike">
                          <a:solidFill>
                            <a:srgbClr val="28292B"/>
                          </a:solidFill>
                          <a:latin typeface="IBM Plex Sans"/>
                          <a:ea typeface="IBM Plex Sans"/>
                          <a:cs typeface="IBM Plex Sans"/>
                          <a:sym typeface="IBM Plex Sans"/>
                        </a:rPr>
                        <a:t>NGN→CAD</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B7B6B3"/>
                      </a:solidFill>
                      <a:prstDash val="solid"/>
                      <a:round/>
                      <a:headEnd len="sm" w="sm" type="none"/>
                      <a:tailEnd len="sm" w="sm" type="none"/>
                    </a:lnL>
                    <a:lnR cap="flat" cmpd="sng" w="12700">
                      <a:solidFill>
                        <a:srgbClr val="B7B6B3"/>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7B6B3"/>
                      </a:solidFill>
                      <a:prstDash val="solid"/>
                      <a:round/>
                      <a:headEnd len="sm" w="sm" type="none"/>
                      <a:tailEnd len="sm" w="sm" type="none"/>
                    </a:lnB>
                    <a:solidFill>
                      <a:srgbClr val="E5E4E0"/>
                    </a:solidFill>
                  </a:tcPr>
                </a:tc>
              </a:tr>
              <a:tr h="329500">
                <a:tc>
                  <a:txBody>
                    <a:bodyPr/>
                    <a:lstStyle/>
                    <a:p>
                      <a:pPr indent="0" lvl="0" marL="0" marR="0" rtl="0" algn="l">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People sending</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7B6B3"/>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13,255</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7B6B3"/>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4,599</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7B6B3"/>
                      </a:solidFill>
                      <a:prstDash val="solid"/>
                      <a:round/>
                      <a:headEnd len="sm" w="sm" type="none"/>
                      <a:tailEnd len="sm" w="sm" type="none"/>
                    </a:lnT>
                    <a:lnB cap="flat" cmpd="sng" w="12700">
                      <a:solidFill>
                        <a:srgbClr val="C5C4C1"/>
                      </a:solidFill>
                      <a:prstDash val="solid"/>
                      <a:round/>
                      <a:headEnd len="sm" w="sm" type="none"/>
                      <a:tailEnd len="sm" w="sm" type="none"/>
                    </a:lnB>
                  </a:tcPr>
                </a:tc>
              </a:tr>
              <a:tr h="329500">
                <a:tc>
                  <a:txBody>
                    <a:bodyPr/>
                    <a:lstStyle/>
                    <a:p>
                      <a:pPr indent="0" lvl="0" marL="0" marR="0" rtl="0" algn="l">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Share of transfers</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85.7%</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13.5%</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329500">
                <a:tc>
                  <a:txBody>
                    <a:bodyPr/>
                    <a:lstStyle/>
                    <a:p>
                      <a:pPr indent="0" lvl="0" marL="0" marR="0" rtl="0" algn="l">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Share of value</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50.9%</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48.2%</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329500">
                <a:tc>
                  <a:txBody>
                    <a:bodyPr/>
                    <a:lstStyle/>
                    <a:p>
                      <a:pPr indent="0" lvl="0" marL="0" marR="0" rtl="0" algn="l">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Average transfer</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CA$216</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CA$1,300</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329500">
                <a:tc>
                  <a:txBody>
                    <a:bodyPr/>
                    <a:lstStyle/>
                    <a:p>
                      <a:pPr indent="0" lvl="0" marL="0" marR="0" rtl="0" algn="l">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Typical (median) transfer</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CA$81</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CA$676</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329500">
                <a:tc>
                  <a:txBody>
                    <a:bodyPr/>
                    <a:lstStyle/>
                    <a:p>
                      <a:pPr indent="0" lvl="0" marL="0" marR="0" rtl="0" algn="l">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Most common purpose</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Personal (24%)</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28292B"/>
                        </a:buClr>
                        <a:buSzPts val="1200"/>
                        <a:buFont typeface="IBM Plex Sans"/>
                        <a:buNone/>
                      </a:pPr>
                      <a:r>
                        <a:rPr lang="en" sz="1200" u="none" cap="none" strike="noStrike">
                          <a:solidFill>
                            <a:srgbClr val="28292B"/>
                          </a:solidFill>
                          <a:latin typeface="IBM Plex Sans"/>
                          <a:ea typeface="IBM Plex Sans"/>
                          <a:cs typeface="IBM Plex Sans"/>
                          <a:sym typeface="IBM Plex Sans"/>
                        </a:rPr>
                        <a:t>School (40%)</a:t>
                      </a:r>
                      <a:endParaRPr sz="1200" u="none" cap="none" strike="noStrike">
                        <a:latin typeface="IBM Plex Sans"/>
                        <a:ea typeface="IBM Plex Sans"/>
                        <a:cs typeface="IBM Plex Sans"/>
                        <a:sym typeface="IBM Plex Sans"/>
                      </a:endParaRPr>
                    </a:p>
                  </a:txBody>
                  <a:tcPr marT="53350" marB="53350" marR="53350" marL="53350">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bl>
          </a:graphicData>
        </a:graphic>
      </p:graphicFrame>
      <p:sp>
        <p:nvSpPr>
          <p:cNvPr id="214" name="Google Shape;214;p22"/>
          <p:cNvSpPr/>
          <p:nvPr/>
        </p:nvSpPr>
        <p:spPr>
          <a:xfrm>
            <a:off x="609600" y="3760031"/>
            <a:ext cx="7924800" cy="441945"/>
          </a:xfrm>
          <a:prstGeom prst="roundRect">
            <a:avLst>
              <a:gd fmla="val 12931" name="adj"/>
            </a:avLst>
          </a:prstGeom>
          <a:solidFill>
            <a:srgbClr val="ECEAE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5" name="Google Shape;215;p22"/>
          <p:cNvSpPr/>
          <p:nvPr/>
        </p:nvSpPr>
        <p:spPr>
          <a:xfrm>
            <a:off x="762000" y="3874331"/>
            <a:ext cx="7848600"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Value is concentrated: the top 10% of customers (1,644 people) send 51% of all value.</a:t>
            </a:r>
            <a:endParaRPr b="0" i="0" sz="1200" u="none" cap="none" strike="noStrike">
              <a:solidFill>
                <a:schemeClr val="dk1"/>
              </a:solidFill>
              <a:latin typeface="Calibri"/>
              <a:ea typeface="Calibri"/>
              <a:cs typeface="Calibri"/>
              <a:sym typeface="Calibri"/>
            </a:endParaRPr>
          </a:p>
        </p:txBody>
      </p:sp>
      <p:sp>
        <p:nvSpPr>
          <p:cNvPr id="216" name="Google Shape;216;p22"/>
          <p:cNvSpPr/>
          <p:nvPr/>
        </p:nvSpPr>
        <p:spPr>
          <a:xfrm>
            <a:off x="609600" y="4678710"/>
            <a:ext cx="63769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Remittances only (same-currency debits excluded). Other corridors: under 1% of value.</a:t>
            </a:r>
            <a:endParaRPr b="0" i="0" sz="900" u="none" cap="none" strike="noStrike">
              <a:solidFill>
                <a:schemeClr val="dk1"/>
              </a:solidFill>
              <a:latin typeface="Calibri"/>
              <a:ea typeface="Calibri"/>
              <a:cs typeface="Calibri"/>
              <a:sym typeface="Calibri"/>
            </a:endParaRPr>
          </a:p>
        </p:txBody>
      </p:sp>
      <p:pic>
        <p:nvPicPr>
          <p:cNvPr descr="SendFast logo" id="217" name="Google Shape;217;p22"/>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218" name="Google Shape;218;p22"/>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23" name="Shape 223"/>
        <p:cNvGrpSpPr/>
        <p:nvPr/>
      </p:nvGrpSpPr>
      <p:grpSpPr>
        <a:xfrm>
          <a:off x="0" y="0"/>
          <a:ext cx="0" cy="0"/>
          <a:chOff x="0" y="0"/>
          <a:chExt cx="0" cy="0"/>
        </a:xfrm>
      </p:grpSpPr>
      <p:sp>
        <p:nvSpPr>
          <p:cNvPr id="224" name="Google Shape;224;p23"/>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Most new signups never start KYC</a:t>
            </a:r>
            <a:endParaRPr b="0" i="0" sz="2700" u="none" cap="none" strike="noStrike">
              <a:solidFill>
                <a:schemeClr val="dk1"/>
              </a:solidFill>
              <a:latin typeface="Calibri"/>
              <a:ea typeface="Calibri"/>
              <a:cs typeface="Calibri"/>
              <a:sym typeface="Calibri"/>
            </a:endParaRPr>
          </a:p>
        </p:txBody>
      </p:sp>
      <p:sp>
        <p:nvSpPr>
          <p:cNvPr id="225" name="Google Shape;225;p23"/>
          <p:cNvSpPr/>
          <p:nvPr/>
        </p:nvSpPr>
        <p:spPr>
          <a:xfrm>
            <a:off x="609600" y="1062968"/>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People who signed up 1 Dec – 29 Feb, so everyone had at least 30 days to send</a:t>
            </a:r>
            <a:endParaRPr b="0" i="0" sz="900" u="none" cap="none" strike="noStrike">
              <a:solidFill>
                <a:schemeClr val="dk1"/>
              </a:solidFill>
              <a:latin typeface="Calibri"/>
              <a:ea typeface="Calibri"/>
              <a:cs typeface="Calibri"/>
              <a:sym typeface="Calibri"/>
            </a:endParaRPr>
          </a:p>
        </p:txBody>
      </p:sp>
      <p:sp>
        <p:nvSpPr>
          <p:cNvPr id="226" name="Google Shape;226;p23"/>
          <p:cNvSpPr/>
          <p:nvPr/>
        </p:nvSpPr>
        <p:spPr>
          <a:xfrm>
            <a:off x="609600" y="1449660"/>
            <a:ext cx="137350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Signed up</a:t>
            </a:r>
            <a:endParaRPr b="0" i="0" sz="1200" u="none" cap="none" strike="noStrike">
              <a:solidFill>
                <a:schemeClr val="dk1"/>
              </a:solidFill>
              <a:latin typeface="Calibri"/>
              <a:ea typeface="Calibri"/>
              <a:cs typeface="Calibri"/>
              <a:sym typeface="Calibri"/>
            </a:endParaRPr>
          </a:p>
        </p:txBody>
      </p:sp>
      <p:sp>
        <p:nvSpPr>
          <p:cNvPr id="227" name="Google Shape;227;p23"/>
          <p:cNvSpPr/>
          <p:nvPr/>
        </p:nvSpPr>
        <p:spPr>
          <a:xfrm>
            <a:off x="2057400" y="1413458"/>
            <a:ext cx="3619500" cy="285750"/>
          </a:xfrm>
          <a:prstGeom prst="roundRect">
            <a:avLst>
              <a:gd fmla="val 6667" name="adj"/>
            </a:avLst>
          </a:prstGeom>
          <a:solidFill>
            <a:srgbClr val="A3A9B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8" name="Google Shape;228;p23"/>
          <p:cNvSpPr/>
          <p:nvPr/>
        </p:nvSpPr>
        <p:spPr>
          <a:xfrm>
            <a:off x="3615779" y="1449660"/>
            <a:ext cx="540842"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16,333</a:t>
            </a:r>
            <a:endParaRPr b="0" i="0" sz="1200" u="none" cap="none" strike="noStrike">
              <a:solidFill>
                <a:schemeClr val="dk1"/>
              </a:solidFill>
              <a:latin typeface="Calibri"/>
              <a:ea typeface="Calibri"/>
              <a:cs typeface="Calibri"/>
              <a:sym typeface="Calibri"/>
            </a:endParaRPr>
          </a:p>
        </p:txBody>
      </p:sp>
      <p:sp>
        <p:nvSpPr>
          <p:cNvPr id="229" name="Google Shape;229;p23"/>
          <p:cNvSpPr/>
          <p:nvPr/>
        </p:nvSpPr>
        <p:spPr>
          <a:xfrm>
            <a:off x="5791200" y="1449660"/>
            <a:ext cx="453703"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100%</a:t>
            </a:r>
            <a:endParaRPr b="0" i="0" sz="1200" u="none" cap="none" strike="noStrike">
              <a:solidFill>
                <a:schemeClr val="dk1"/>
              </a:solidFill>
              <a:latin typeface="Calibri"/>
              <a:ea typeface="Calibri"/>
              <a:cs typeface="Calibri"/>
              <a:sym typeface="Calibri"/>
            </a:endParaRPr>
          </a:p>
        </p:txBody>
      </p:sp>
      <p:sp>
        <p:nvSpPr>
          <p:cNvPr id="230" name="Google Shape;230;p23"/>
          <p:cNvSpPr/>
          <p:nvPr/>
        </p:nvSpPr>
        <p:spPr>
          <a:xfrm>
            <a:off x="609600" y="1830660"/>
            <a:ext cx="137350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Completed profile</a:t>
            </a:r>
            <a:endParaRPr b="0" i="0" sz="1200" u="none" cap="none" strike="noStrike">
              <a:solidFill>
                <a:schemeClr val="dk1"/>
              </a:solidFill>
              <a:latin typeface="Calibri"/>
              <a:ea typeface="Calibri"/>
              <a:cs typeface="Calibri"/>
              <a:sym typeface="Calibri"/>
            </a:endParaRPr>
          </a:p>
        </p:txBody>
      </p:sp>
      <p:sp>
        <p:nvSpPr>
          <p:cNvPr id="231" name="Google Shape;231;p23"/>
          <p:cNvSpPr/>
          <p:nvPr/>
        </p:nvSpPr>
        <p:spPr>
          <a:xfrm>
            <a:off x="2781300" y="1794458"/>
            <a:ext cx="2171700" cy="285750"/>
          </a:xfrm>
          <a:prstGeom prst="roundRect">
            <a:avLst>
              <a:gd fmla="val 6667" name="adj"/>
            </a:avLst>
          </a:prstGeom>
          <a:solidFill>
            <a:srgbClr val="A3A9B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3"/>
          <p:cNvSpPr/>
          <p:nvPr/>
        </p:nvSpPr>
        <p:spPr>
          <a:xfrm>
            <a:off x="3661469" y="1830660"/>
            <a:ext cx="449424"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9,806</a:t>
            </a:r>
            <a:endParaRPr b="0" i="0" sz="1200" u="none" cap="none" strike="noStrike">
              <a:solidFill>
                <a:schemeClr val="dk1"/>
              </a:solidFill>
              <a:latin typeface="Calibri"/>
              <a:ea typeface="Calibri"/>
              <a:cs typeface="Calibri"/>
              <a:sym typeface="Calibri"/>
            </a:endParaRPr>
          </a:p>
        </p:txBody>
      </p:sp>
      <p:sp>
        <p:nvSpPr>
          <p:cNvPr id="233" name="Google Shape;233;p23"/>
          <p:cNvSpPr/>
          <p:nvPr/>
        </p:nvSpPr>
        <p:spPr>
          <a:xfrm>
            <a:off x="5791200" y="1830660"/>
            <a:ext cx="36228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60%</a:t>
            </a:r>
            <a:endParaRPr b="0" i="0" sz="1200" u="none" cap="none" strike="noStrike">
              <a:solidFill>
                <a:schemeClr val="dk1"/>
              </a:solidFill>
              <a:latin typeface="Calibri"/>
              <a:ea typeface="Calibri"/>
              <a:cs typeface="Calibri"/>
              <a:sym typeface="Calibri"/>
            </a:endParaRPr>
          </a:p>
        </p:txBody>
      </p:sp>
      <p:sp>
        <p:nvSpPr>
          <p:cNvPr id="234" name="Google Shape;234;p23"/>
          <p:cNvSpPr/>
          <p:nvPr/>
        </p:nvSpPr>
        <p:spPr>
          <a:xfrm>
            <a:off x="609600" y="2211660"/>
            <a:ext cx="137350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Started KYC</a:t>
            </a:r>
            <a:endParaRPr b="0" i="0" sz="1200" u="none" cap="none" strike="noStrike">
              <a:solidFill>
                <a:schemeClr val="dk1"/>
              </a:solidFill>
              <a:latin typeface="Calibri"/>
              <a:ea typeface="Calibri"/>
              <a:cs typeface="Calibri"/>
              <a:sym typeface="Calibri"/>
            </a:endParaRPr>
          </a:p>
        </p:txBody>
      </p:sp>
      <p:sp>
        <p:nvSpPr>
          <p:cNvPr id="235" name="Google Shape;235;p23"/>
          <p:cNvSpPr/>
          <p:nvPr/>
        </p:nvSpPr>
        <p:spPr>
          <a:xfrm>
            <a:off x="3143250" y="2175458"/>
            <a:ext cx="1447800" cy="285750"/>
          </a:xfrm>
          <a:prstGeom prst="roundRect">
            <a:avLst>
              <a:gd fmla="val 6667" name="adj"/>
            </a:avLst>
          </a:prstGeom>
          <a:solidFill>
            <a:srgbClr val="E66227"/>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23"/>
          <p:cNvSpPr/>
          <p:nvPr/>
        </p:nvSpPr>
        <p:spPr>
          <a:xfrm>
            <a:off x="3661469" y="2211660"/>
            <a:ext cx="449424"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FFDF8"/>
              </a:buClr>
              <a:buSzPts val="1200"/>
              <a:buFont typeface="IBM Plex Sans"/>
              <a:buNone/>
            </a:pPr>
            <a:r>
              <a:rPr b="1" i="0" lang="en" sz="1200" u="none" cap="none" strike="noStrike">
                <a:solidFill>
                  <a:srgbClr val="FFFDF8"/>
                </a:solidFill>
                <a:latin typeface="IBM Plex Sans"/>
                <a:ea typeface="IBM Plex Sans"/>
                <a:cs typeface="IBM Plex Sans"/>
                <a:sym typeface="IBM Plex Sans"/>
              </a:rPr>
              <a:t>6,533</a:t>
            </a:r>
            <a:endParaRPr b="0" i="0" sz="1200" u="none" cap="none" strike="noStrike">
              <a:solidFill>
                <a:schemeClr val="dk1"/>
              </a:solidFill>
              <a:latin typeface="Calibri"/>
              <a:ea typeface="Calibri"/>
              <a:cs typeface="Calibri"/>
              <a:sym typeface="Calibri"/>
            </a:endParaRPr>
          </a:p>
        </p:txBody>
      </p:sp>
      <p:sp>
        <p:nvSpPr>
          <p:cNvPr id="237" name="Google Shape;237;p23"/>
          <p:cNvSpPr/>
          <p:nvPr/>
        </p:nvSpPr>
        <p:spPr>
          <a:xfrm>
            <a:off x="5791200" y="2211660"/>
            <a:ext cx="1630769"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40%</a:t>
            </a:r>
            <a:r>
              <a:rPr b="0" i="0" lang="en" sz="1200" u="none" cap="none" strike="noStrike">
                <a:solidFill>
                  <a:srgbClr val="28292B"/>
                </a:solidFill>
                <a:latin typeface="IBM Plex Sans"/>
                <a:ea typeface="IBM Plex Sans"/>
                <a:cs typeface="IBM Plex Sans"/>
                <a:sym typeface="IBM Plex Sans"/>
              </a:rPr>
              <a:t> · </a:t>
            </a:r>
            <a:r>
              <a:rPr b="1" i="0" lang="en" sz="1200" u="none" cap="none" strike="noStrike">
                <a:solidFill>
                  <a:srgbClr val="B8471A"/>
                </a:solidFill>
                <a:latin typeface="IBM Plex Sans"/>
                <a:ea typeface="IBM Plex Sans"/>
                <a:cs typeface="IBM Plex Sans"/>
                <a:sym typeface="IBM Plex Sans"/>
              </a:rPr>
              <a:t>60% never start</a:t>
            </a:r>
            <a:endParaRPr b="0" i="0" sz="1200" u="none" cap="none" strike="noStrike">
              <a:solidFill>
                <a:schemeClr val="dk1"/>
              </a:solidFill>
              <a:latin typeface="Calibri"/>
              <a:ea typeface="Calibri"/>
              <a:cs typeface="Calibri"/>
              <a:sym typeface="Calibri"/>
            </a:endParaRPr>
          </a:p>
        </p:txBody>
      </p:sp>
      <p:sp>
        <p:nvSpPr>
          <p:cNvPr id="238" name="Google Shape;238;p23"/>
          <p:cNvSpPr/>
          <p:nvPr/>
        </p:nvSpPr>
        <p:spPr>
          <a:xfrm>
            <a:off x="609600" y="2592660"/>
            <a:ext cx="137350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KYC passed</a:t>
            </a:r>
            <a:endParaRPr b="0" i="0" sz="1200" u="none" cap="none" strike="noStrike">
              <a:solidFill>
                <a:schemeClr val="dk1"/>
              </a:solidFill>
              <a:latin typeface="Calibri"/>
              <a:ea typeface="Calibri"/>
              <a:cs typeface="Calibri"/>
              <a:sym typeface="Calibri"/>
            </a:endParaRPr>
          </a:p>
        </p:txBody>
      </p:sp>
      <p:sp>
        <p:nvSpPr>
          <p:cNvPr id="239" name="Google Shape;239;p23"/>
          <p:cNvSpPr/>
          <p:nvPr/>
        </p:nvSpPr>
        <p:spPr>
          <a:xfrm>
            <a:off x="3481388" y="2556458"/>
            <a:ext cx="771525" cy="285750"/>
          </a:xfrm>
          <a:prstGeom prst="roundRect">
            <a:avLst>
              <a:gd fmla="val 6667" name="adj"/>
            </a:avLst>
          </a:prstGeom>
          <a:solidFill>
            <a:srgbClr val="A3A9B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0" name="Google Shape;240;p23"/>
          <p:cNvSpPr/>
          <p:nvPr/>
        </p:nvSpPr>
        <p:spPr>
          <a:xfrm>
            <a:off x="3661469" y="2592660"/>
            <a:ext cx="449424"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3,477</a:t>
            </a:r>
            <a:endParaRPr b="0" i="0" sz="1200" u="none" cap="none" strike="noStrike">
              <a:solidFill>
                <a:schemeClr val="dk1"/>
              </a:solidFill>
              <a:latin typeface="Calibri"/>
              <a:ea typeface="Calibri"/>
              <a:cs typeface="Calibri"/>
              <a:sym typeface="Calibri"/>
            </a:endParaRPr>
          </a:p>
        </p:txBody>
      </p:sp>
      <p:sp>
        <p:nvSpPr>
          <p:cNvPr id="241" name="Google Shape;241;p23"/>
          <p:cNvSpPr/>
          <p:nvPr/>
        </p:nvSpPr>
        <p:spPr>
          <a:xfrm>
            <a:off x="5791200" y="2592660"/>
            <a:ext cx="36228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21%</a:t>
            </a:r>
            <a:endParaRPr b="0" i="0" sz="1200" u="none" cap="none" strike="noStrike">
              <a:solidFill>
                <a:schemeClr val="dk1"/>
              </a:solidFill>
              <a:latin typeface="Calibri"/>
              <a:ea typeface="Calibri"/>
              <a:cs typeface="Calibri"/>
              <a:sym typeface="Calibri"/>
            </a:endParaRPr>
          </a:p>
        </p:txBody>
      </p:sp>
      <p:sp>
        <p:nvSpPr>
          <p:cNvPr id="242" name="Google Shape;242;p23"/>
          <p:cNvSpPr/>
          <p:nvPr/>
        </p:nvSpPr>
        <p:spPr>
          <a:xfrm>
            <a:off x="609600" y="2973660"/>
            <a:ext cx="137350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Sent money</a:t>
            </a:r>
            <a:endParaRPr b="0" i="0" sz="1200" u="none" cap="none" strike="noStrike">
              <a:solidFill>
                <a:schemeClr val="dk1"/>
              </a:solidFill>
              <a:latin typeface="Calibri"/>
              <a:ea typeface="Calibri"/>
              <a:cs typeface="Calibri"/>
              <a:sym typeface="Calibri"/>
            </a:endParaRPr>
          </a:p>
        </p:txBody>
      </p:sp>
      <p:sp>
        <p:nvSpPr>
          <p:cNvPr id="243" name="Google Shape;243;p23"/>
          <p:cNvSpPr/>
          <p:nvPr/>
        </p:nvSpPr>
        <p:spPr>
          <a:xfrm>
            <a:off x="3750469" y="2937458"/>
            <a:ext cx="233363" cy="285750"/>
          </a:xfrm>
          <a:prstGeom prst="roundRect">
            <a:avLst>
              <a:gd fmla="val 8163"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3"/>
          <p:cNvSpPr/>
          <p:nvPr/>
        </p:nvSpPr>
        <p:spPr>
          <a:xfrm>
            <a:off x="5791200" y="2973660"/>
            <a:ext cx="932557"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1,046 · 6.4%</a:t>
            </a:r>
            <a:endParaRPr b="0" i="0" sz="1200" u="none" cap="none" strike="noStrike">
              <a:solidFill>
                <a:schemeClr val="dk1"/>
              </a:solidFill>
              <a:latin typeface="Calibri"/>
              <a:ea typeface="Calibri"/>
              <a:cs typeface="Calibri"/>
              <a:sym typeface="Calibri"/>
            </a:endParaRPr>
          </a:p>
        </p:txBody>
      </p:sp>
      <p:sp>
        <p:nvSpPr>
          <p:cNvPr id="245" name="Google Shape;245;p23"/>
          <p:cNvSpPr/>
          <p:nvPr/>
        </p:nvSpPr>
        <p:spPr>
          <a:xfrm>
            <a:off x="609600" y="3413708"/>
            <a:ext cx="7848600"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The biggest loss is before KYC begins. After passing KYC, only 3 in 10 go on to send.</a:t>
            </a:r>
            <a:endParaRPr b="0" i="0" sz="1200" u="none" cap="none" strike="noStrike">
              <a:solidFill>
                <a:schemeClr val="dk1"/>
              </a:solidFill>
              <a:latin typeface="Calibri"/>
              <a:ea typeface="Calibri"/>
              <a:cs typeface="Calibri"/>
              <a:sym typeface="Calibri"/>
            </a:endParaRPr>
          </a:p>
        </p:txBody>
      </p:sp>
      <p:sp>
        <p:nvSpPr>
          <p:cNvPr id="246" name="Google Shape;246;p23"/>
          <p:cNvSpPr/>
          <p:nvPr/>
        </p:nvSpPr>
        <p:spPr>
          <a:xfrm>
            <a:off x="609600" y="4678710"/>
            <a:ext cx="63769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Median 15 days from signup to first transfer. March signups are too recent to include.</a:t>
            </a:r>
            <a:endParaRPr b="0" i="0" sz="900" u="none" cap="none" strike="noStrike">
              <a:solidFill>
                <a:schemeClr val="dk1"/>
              </a:solidFill>
              <a:latin typeface="Calibri"/>
              <a:ea typeface="Calibri"/>
              <a:cs typeface="Calibri"/>
              <a:sym typeface="Calibri"/>
            </a:endParaRPr>
          </a:p>
        </p:txBody>
      </p:sp>
      <p:pic>
        <p:nvPicPr>
          <p:cNvPr descr="SendFast logo" id="247" name="Google Shape;247;p23"/>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248" name="Google Shape;248;p23"/>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53" name="Shape 253"/>
        <p:cNvGrpSpPr/>
        <p:nvPr/>
      </p:nvGrpSpPr>
      <p:grpSpPr>
        <a:xfrm>
          <a:off x="0" y="0"/>
          <a:ext cx="0" cy="0"/>
          <a:chOff x="0" y="0"/>
          <a:chExt cx="0" cy="0"/>
        </a:xfrm>
      </p:grpSpPr>
      <p:sp>
        <p:nvSpPr>
          <p:cNvPr id="254" name="Google Shape;254;p24"/>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Referral works best where the leak is</a:t>
            </a:r>
            <a:endParaRPr b="0" i="0" sz="2700" u="none" cap="none" strike="noStrike">
              <a:solidFill>
                <a:schemeClr val="dk1"/>
              </a:solidFill>
              <a:latin typeface="Calibri"/>
              <a:ea typeface="Calibri"/>
              <a:cs typeface="Calibri"/>
              <a:sym typeface="Calibri"/>
            </a:endParaRPr>
          </a:p>
        </p:txBody>
      </p:sp>
      <p:sp>
        <p:nvSpPr>
          <p:cNvPr id="255" name="Google Shape;255;p24"/>
          <p:cNvSpPr/>
          <p:nvPr/>
        </p:nvSpPr>
        <p:spPr>
          <a:xfrm>
            <a:off x="609600" y="1215368"/>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NIGERIA · SHARE OF SIGNUPS WHO SENT MONEY</a:t>
            </a:r>
            <a:endParaRPr b="0" i="0" sz="900" u="none" cap="none" strike="noStrike">
              <a:solidFill>
                <a:schemeClr val="dk1"/>
              </a:solidFill>
              <a:latin typeface="Calibri"/>
              <a:ea typeface="Calibri"/>
              <a:cs typeface="Calibri"/>
              <a:sym typeface="Calibri"/>
            </a:endParaRPr>
          </a:p>
        </p:txBody>
      </p:sp>
      <p:sp>
        <p:nvSpPr>
          <p:cNvPr id="256" name="Google Shape;256;p24"/>
          <p:cNvSpPr/>
          <p:nvPr/>
        </p:nvSpPr>
        <p:spPr>
          <a:xfrm>
            <a:off x="609600" y="1478235"/>
            <a:ext cx="1667828"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Referred</a:t>
            </a:r>
            <a:endParaRPr b="0" i="0" sz="1200" u="none" cap="none" strike="noStrike">
              <a:solidFill>
                <a:schemeClr val="dk1"/>
              </a:solidFill>
              <a:latin typeface="Calibri"/>
              <a:ea typeface="Calibri"/>
              <a:cs typeface="Calibri"/>
              <a:sym typeface="Calibri"/>
            </a:endParaRPr>
          </a:p>
        </p:txBody>
      </p:sp>
      <p:sp>
        <p:nvSpPr>
          <p:cNvPr id="257" name="Google Shape;257;p24"/>
          <p:cNvSpPr/>
          <p:nvPr/>
        </p:nvSpPr>
        <p:spPr>
          <a:xfrm>
            <a:off x="2343150" y="1451558"/>
            <a:ext cx="1690688" cy="266700"/>
          </a:xfrm>
          <a:prstGeom prst="roundRect">
            <a:avLst>
              <a:gd fmla="val 7143"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4"/>
          <p:cNvSpPr/>
          <p:nvPr/>
        </p:nvSpPr>
        <p:spPr>
          <a:xfrm>
            <a:off x="4148138" y="1478235"/>
            <a:ext cx="179153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10.7% </a:t>
            </a:r>
            <a:r>
              <a:rPr b="1" i="0" lang="en" sz="1200" u="none" cap="none" strike="noStrike">
                <a:solidFill>
                  <a:srgbClr val="434C54"/>
                </a:solidFill>
                <a:latin typeface="IBM Plex Sans"/>
                <a:ea typeface="IBM Plex Sans"/>
                <a:cs typeface="IBM Plex Sans"/>
                <a:sym typeface="IBM Plex Sans"/>
              </a:rPr>
              <a:t>(5.6× more likely)</a:t>
            </a:r>
            <a:endParaRPr b="0" i="0" sz="1200" u="none" cap="none" strike="noStrike">
              <a:solidFill>
                <a:schemeClr val="dk1"/>
              </a:solidFill>
              <a:latin typeface="Calibri"/>
              <a:ea typeface="Calibri"/>
              <a:cs typeface="Calibri"/>
              <a:sym typeface="Calibri"/>
            </a:endParaRPr>
          </a:p>
        </p:txBody>
      </p:sp>
      <p:sp>
        <p:nvSpPr>
          <p:cNvPr id="259" name="Google Shape;259;p24"/>
          <p:cNvSpPr/>
          <p:nvPr/>
        </p:nvSpPr>
        <p:spPr>
          <a:xfrm>
            <a:off x="609600" y="1821135"/>
            <a:ext cx="1667828"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Not referred</a:t>
            </a:r>
            <a:endParaRPr b="0" i="0" sz="1200" u="none" cap="none" strike="noStrike">
              <a:solidFill>
                <a:schemeClr val="dk1"/>
              </a:solidFill>
              <a:latin typeface="Calibri"/>
              <a:ea typeface="Calibri"/>
              <a:cs typeface="Calibri"/>
              <a:sym typeface="Calibri"/>
            </a:endParaRPr>
          </a:p>
        </p:txBody>
      </p:sp>
      <p:sp>
        <p:nvSpPr>
          <p:cNvPr id="260" name="Google Shape;260;p24"/>
          <p:cNvSpPr/>
          <p:nvPr/>
        </p:nvSpPr>
        <p:spPr>
          <a:xfrm>
            <a:off x="2343150" y="1794458"/>
            <a:ext cx="300038" cy="266700"/>
          </a:xfrm>
          <a:prstGeom prst="roundRect">
            <a:avLst>
              <a:gd fmla="val 7143" name="adj"/>
            </a:avLst>
          </a:prstGeom>
          <a:solidFill>
            <a:srgbClr val="A3A9B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1" name="Google Shape;261;p24"/>
          <p:cNvSpPr/>
          <p:nvPr/>
        </p:nvSpPr>
        <p:spPr>
          <a:xfrm>
            <a:off x="2757488" y="1821135"/>
            <a:ext cx="403733"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1.9%</a:t>
            </a:r>
            <a:endParaRPr b="0" i="0" sz="1200" u="none" cap="none" strike="noStrike">
              <a:solidFill>
                <a:schemeClr val="dk1"/>
              </a:solidFill>
              <a:latin typeface="Calibri"/>
              <a:ea typeface="Calibri"/>
              <a:cs typeface="Calibri"/>
              <a:sym typeface="Calibri"/>
            </a:endParaRPr>
          </a:p>
        </p:txBody>
      </p:sp>
      <p:sp>
        <p:nvSpPr>
          <p:cNvPr id="262" name="Google Shape;262;p24"/>
          <p:cNvSpPr/>
          <p:nvPr/>
        </p:nvSpPr>
        <p:spPr>
          <a:xfrm>
            <a:off x="609600" y="2251658"/>
            <a:ext cx="8162544"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1" i="0" lang="en" sz="900" u="none" cap="none" strike="noStrike">
                <a:solidFill>
                  <a:srgbClr val="434C54"/>
                </a:solidFill>
                <a:latin typeface="IBM Plex Sans"/>
                <a:ea typeface="IBM Plex Sans"/>
                <a:cs typeface="IBM Plex Sans"/>
                <a:sym typeface="IBM Plex Sans"/>
              </a:rPr>
              <a:t>CANADA · SHARE OF SIGNUPS WHO SENT MONEY</a:t>
            </a:r>
            <a:endParaRPr b="0" i="0" sz="900" u="none" cap="none" strike="noStrike">
              <a:solidFill>
                <a:schemeClr val="dk1"/>
              </a:solidFill>
              <a:latin typeface="Calibri"/>
              <a:ea typeface="Calibri"/>
              <a:cs typeface="Calibri"/>
              <a:sym typeface="Calibri"/>
            </a:endParaRPr>
          </a:p>
        </p:txBody>
      </p:sp>
      <p:sp>
        <p:nvSpPr>
          <p:cNvPr id="263" name="Google Shape;263;p24"/>
          <p:cNvSpPr/>
          <p:nvPr/>
        </p:nvSpPr>
        <p:spPr>
          <a:xfrm>
            <a:off x="609600" y="2514526"/>
            <a:ext cx="1667828"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Referred</a:t>
            </a:r>
            <a:endParaRPr b="0" i="0" sz="1200" u="none" cap="none" strike="noStrike">
              <a:solidFill>
                <a:schemeClr val="dk1"/>
              </a:solidFill>
              <a:latin typeface="Calibri"/>
              <a:ea typeface="Calibri"/>
              <a:cs typeface="Calibri"/>
              <a:sym typeface="Calibri"/>
            </a:endParaRPr>
          </a:p>
        </p:txBody>
      </p:sp>
      <p:sp>
        <p:nvSpPr>
          <p:cNvPr id="264" name="Google Shape;264;p24"/>
          <p:cNvSpPr/>
          <p:nvPr/>
        </p:nvSpPr>
        <p:spPr>
          <a:xfrm>
            <a:off x="2343150" y="2487848"/>
            <a:ext cx="4286250" cy="266700"/>
          </a:xfrm>
          <a:prstGeom prst="roundRect">
            <a:avLst>
              <a:gd fmla="val 7143" name="adj"/>
            </a:avLst>
          </a:prstGeom>
          <a:solidFill>
            <a:srgbClr val="434C54"/>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4"/>
          <p:cNvSpPr/>
          <p:nvPr/>
        </p:nvSpPr>
        <p:spPr>
          <a:xfrm>
            <a:off x="6743700" y="2514526"/>
            <a:ext cx="1791535"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27.1% </a:t>
            </a:r>
            <a:r>
              <a:rPr b="1" i="0" lang="en" sz="1200" u="none" cap="none" strike="noStrike">
                <a:solidFill>
                  <a:srgbClr val="434C54"/>
                </a:solidFill>
                <a:latin typeface="IBM Plex Sans"/>
                <a:ea typeface="IBM Plex Sans"/>
                <a:cs typeface="IBM Plex Sans"/>
                <a:sym typeface="IBM Plex Sans"/>
              </a:rPr>
              <a:t>(1.7× more likely)</a:t>
            </a:r>
            <a:endParaRPr b="0" i="0" sz="1200" u="none" cap="none" strike="noStrike">
              <a:solidFill>
                <a:schemeClr val="dk1"/>
              </a:solidFill>
              <a:latin typeface="Calibri"/>
              <a:ea typeface="Calibri"/>
              <a:cs typeface="Calibri"/>
              <a:sym typeface="Calibri"/>
            </a:endParaRPr>
          </a:p>
        </p:txBody>
      </p:sp>
      <p:sp>
        <p:nvSpPr>
          <p:cNvPr id="266" name="Google Shape;266;p24"/>
          <p:cNvSpPr/>
          <p:nvPr/>
        </p:nvSpPr>
        <p:spPr>
          <a:xfrm>
            <a:off x="609600" y="2857426"/>
            <a:ext cx="1667828"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Not referred</a:t>
            </a:r>
            <a:endParaRPr b="0" i="0" sz="1200" u="none" cap="none" strike="noStrike">
              <a:solidFill>
                <a:schemeClr val="dk1"/>
              </a:solidFill>
              <a:latin typeface="Calibri"/>
              <a:ea typeface="Calibri"/>
              <a:cs typeface="Calibri"/>
              <a:sym typeface="Calibri"/>
            </a:endParaRPr>
          </a:p>
        </p:txBody>
      </p:sp>
      <p:sp>
        <p:nvSpPr>
          <p:cNvPr id="267" name="Google Shape;267;p24"/>
          <p:cNvSpPr/>
          <p:nvPr/>
        </p:nvSpPr>
        <p:spPr>
          <a:xfrm>
            <a:off x="2343150" y="2830748"/>
            <a:ext cx="2452688" cy="266700"/>
          </a:xfrm>
          <a:prstGeom prst="roundRect">
            <a:avLst>
              <a:gd fmla="val 7143" name="adj"/>
            </a:avLst>
          </a:prstGeom>
          <a:solidFill>
            <a:srgbClr val="A3A9B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8" name="Google Shape;268;p24"/>
          <p:cNvSpPr/>
          <p:nvPr/>
        </p:nvSpPr>
        <p:spPr>
          <a:xfrm>
            <a:off x="4910138" y="2857426"/>
            <a:ext cx="495151" cy="232395"/>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15.5%</a:t>
            </a:r>
            <a:endParaRPr b="0" i="0" sz="1200" u="none" cap="none" strike="noStrike">
              <a:solidFill>
                <a:schemeClr val="dk1"/>
              </a:solidFill>
              <a:latin typeface="Calibri"/>
              <a:ea typeface="Calibri"/>
              <a:cs typeface="Calibri"/>
              <a:sym typeface="Calibri"/>
            </a:endParaRPr>
          </a:p>
        </p:txBody>
      </p:sp>
      <p:sp>
        <p:nvSpPr>
          <p:cNvPr id="269" name="Google Shape;269;p24"/>
          <p:cNvSpPr/>
          <p:nvPr/>
        </p:nvSpPr>
        <p:spPr>
          <a:xfrm>
            <a:off x="609600" y="3326048"/>
            <a:ext cx="7848600" cy="4457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28292B"/>
              </a:buClr>
              <a:buSzPts val="1200"/>
              <a:buFont typeface="IBM Plex Sans"/>
              <a:buNone/>
            </a:pPr>
            <a:r>
              <a:rPr b="0" i="0" lang="en" sz="1200" u="none" cap="none" strike="noStrike">
                <a:solidFill>
                  <a:srgbClr val="28292B"/>
                </a:solidFill>
                <a:latin typeface="IBM Plex Sans"/>
                <a:ea typeface="IBM Plex Sans"/>
                <a:cs typeface="IBM Plex Sans"/>
                <a:sym typeface="IBM Plex Sans"/>
              </a:rPr>
              <a:t>76% of referred Nigerians start KYC, against 28.5% of other Nigerians. Referral gets people through verification. It does not change how long they keep sending.</a:t>
            </a:r>
            <a:endParaRPr b="0" i="0" sz="1200" u="none" cap="none" strike="noStrike">
              <a:solidFill>
                <a:schemeClr val="dk1"/>
              </a:solidFill>
              <a:latin typeface="Calibri"/>
              <a:ea typeface="Calibri"/>
              <a:cs typeface="Calibri"/>
              <a:sym typeface="Calibri"/>
            </a:endParaRPr>
          </a:p>
        </p:txBody>
      </p:sp>
      <p:sp>
        <p:nvSpPr>
          <p:cNvPr id="270" name="Google Shape;270;p24"/>
          <p:cNvSpPr/>
          <p:nvPr/>
        </p:nvSpPr>
        <p:spPr>
          <a:xfrm>
            <a:off x="609600" y="4678710"/>
            <a:ext cx="63769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Signups 1 Dec – 29 Feb, compared within country (referred signups are 71% Canadian).</a:t>
            </a:r>
            <a:endParaRPr b="0" i="0" sz="900" u="none" cap="none" strike="noStrike">
              <a:solidFill>
                <a:schemeClr val="dk1"/>
              </a:solidFill>
              <a:latin typeface="Calibri"/>
              <a:ea typeface="Calibri"/>
              <a:cs typeface="Calibri"/>
              <a:sym typeface="Calibri"/>
            </a:endParaRPr>
          </a:p>
        </p:txBody>
      </p:sp>
      <p:pic>
        <p:nvPicPr>
          <p:cNvPr descr="SendFast logo" id="271" name="Google Shape;271;p24"/>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272" name="Google Shape;272;p24"/>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6F2"/>
        </a:solidFill>
      </p:bgPr>
    </p:bg>
    <p:spTree>
      <p:nvGrpSpPr>
        <p:cNvPr id="277" name="Shape 277"/>
        <p:cNvGrpSpPr/>
        <p:nvPr/>
      </p:nvGrpSpPr>
      <p:grpSpPr>
        <a:xfrm>
          <a:off x="0" y="0"/>
          <a:ext cx="0" cy="0"/>
          <a:chOff x="0" y="0"/>
          <a:chExt cx="0" cy="0"/>
        </a:xfrm>
      </p:grpSpPr>
      <p:sp>
        <p:nvSpPr>
          <p:cNvPr id="278" name="Google Shape;278;p25"/>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Three actions</a:t>
            </a:r>
            <a:endParaRPr b="0" i="0" sz="2700" u="none" cap="none" strike="noStrike">
              <a:solidFill>
                <a:schemeClr val="dk1"/>
              </a:solidFill>
              <a:latin typeface="Calibri"/>
              <a:ea typeface="Calibri"/>
              <a:cs typeface="Calibri"/>
              <a:sym typeface="Calibri"/>
            </a:endParaRPr>
          </a:p>
        </p:txBody>
      </p:sp>
      <p:graphicFrame>
        <p:nvGraphicFramePr>
          <p:cNvPr id="279" name="Google Shape;279;p25"/>
          <p:cNvGraphicFramePr/>
          <p:nvPr/>
        </p:nvGraphicFramePr>
        <p:xfrm>
          <a:off x="619125" y="1224892"/>
          <a:ext cx="3000000" cy="3000000"/>
        </p:xfrm>
        <a:graphic>
          <a:graphicData uri="http://schemas.openxmlformats.org/drawingml/2006/table">
            <a:tbl>
              <a:tblPr>
                <a:noFill/>
                <a:tableStyleId>{B93A6239-3BBD-49CD-92A5-3A69BBA6A7D1}</a:tableStyleId>
              </a:tblPr>
              <a:tblGrid>
                <a:gridCol w="3007800"/>
                <a:gridCol w="2691175"/>
                <a:gridCol w="2216250"/>
              </a:tblGrid>
              <a:tr h="249500">
                <a:tc>
                  <a:txBody>
                    <a:bodyPr/>
                    <a:lstStyle/>
                    <a:p>
                      <a:pPr indent="0" lvl="0" marL="0" marR="0" rtl="0" algn="l">
                        <a:lnSpc>
                          <a:spcPct val="140000"/>
                        </a:lnSpc>
                        <a:spcBef>
                          <a:spcPts val="0"/>
                        </a:spcBef>
                        <a:spcAft>
                          <a:spcPts val="0"/>
                        </a:spcAft>
                        <a:buClr>
                          <a:srgbClr val="28292B"/>
                        </a:buClr>
                        <a:buSzPts val="900"/>
                        <a:buFont typeface="IBM Plex Sans"/>
                        <a:buNone/>
                      </a:pPr>
                      <a:r>
                        <a:rPr b="1" lang="en" sz="900" u="none" cap="none" strike="noStrike">
                          <a:solidFill>
                            <a:srgbClr val="28292B"/>
                          </a:solidFill>
                          <a:latin typeface="IBM Plex Sans"/>
                          <a:ea typeface="IBM Plex Sans"/>
                          <a:cs typeface="IBM Plex Sans"/>
                          <a:sym typeface="IBM Plex Sans"/>
                        </a:rPr>
                        <a:t>Action</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B7B6B3"/>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7B6B3"/>
                      </a:solidFill>
                      <a:prstDash val="solid"/>
                      <a:round/>
                      <a:headEnd len="sm" w="sm" type="none"/>
                      <a:tailEnd len="sm" w="sm" type="none"/>
                    </a:lnB>
                    <a:solidFill>
                      <a:srgbClr val="E5E4E0"/>
                    </a:solidFill>
                  </a:tcPr>
                </a:tc>
                <a:tc>
                  <a:txBody>
                    <a:bodyPr/>
                    <a:lstStyle/>
                    <a:p>
                      <a:pPr indent="0" lvl="0" marL="0" marR="0" rtl="0" algn="l">
                        <a:lnSpc>
                          <a:spcPct val="140000"/>
                        </a:lnSpc>
                        <a:spcBef>
                          <a:spcPts val="0"/>
                        </a:spcBef>
                        <a:spcAft>
                          <a:spcPts val="0"/>
                        </a:spcAft>
                        <a:buClr>
                          <a:srgbClr val="28292B"/>
                        </a:buClr>
                        <a:buSzPts val="900"/>
                        <a:buFont typeface="IBM Plex Sans"/>
                        <a:buNone/>
                      </a:pPr>
                      <a:r>
                        <a:rPr b="1" lang="en" sz="900" u="none" cap="none" strike="noStrike">
                          <a:solidFill>
                            <a:srgbClr val="28292B"/>
                          </a:solidFill>
                          <a:latin typeface="IBM Plex Sans"/>
                          <a:ea typeface="IBM Plex Sans"/>
                          <a:cs typeface="IBM Plex Sans"/>
                          <a:sym typeface="IBM Plex Sans"/>
                        </a:rPr>
                        <a:t>Why</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B7B6B3"/>
                      </a:solidFill>
                      <a:prstDash val="solid"/>
                      <a:round/>
                      <a:headEnd len="sm" w="sm" type="none"/>
                      <a:tailEnd len="sm" w="sm" type="none"/>
                    </a:lnL>
                    <a:lnR cap="flat" cmpd="sng" w="12700">
                      <a:solidFill>
                        <a:srgbClr val="B7B6B3"/>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7B6B3"/>
                      </a:solidFill>
                      <a:prstDash val="solid"/>
                      <a:round/>
                      <a:headEnd len="sm" w="sm" type="none"/>
                      <a:tailEnd len="sm" w="sm" type="none"/>
                    </a:lnB>
                    <a:solidFill>
                      <a:srgbClr val="E5E4E0"/>
                    </a:solidFill>
                  </a:tcPr>
                </a:tc>
                <a:tc>
                  <a:txBody>
                    <a:bodyPr/>
                    <a:lstStyle/>
                    <a:p>
                      <a:pPr indent="0" lvl="0" marL="0" marR="0" rtl="0" algn="l">
                        <a:lnSpc>
                          <a:spcPct val="140000"/>
                        </a:lnSpc>
                        <a:spcBef>
                          <a:spcPts val="0"/>
                        </a:spcBef>
                        <a:spcAft>
                          <a:spcPts val="0"/>
                        </a:spcAft>
                        <a:buClr>
                          <a:srgbClr val="28292B"/>
                        </a:buClr>
                        <a:buSzPts val="900"/>
                        <a:buFont typeface="IBM Plex Sans"/>
                        <a:buNone/>
                      </a:pPr>
                      <a:r>
                        <a:rPr b="1" lang="en" sz="900" u="none" cap="none" strike="noStrike">
                          <a:solidFill>
                            <a:srgbClr val="28292B"/>
                          </a:solidFill>
                          <a:latin typeface="IBM Plex Sans"/>
                          <a:ea typeface="IBM Plex Sans"/>
                          <a:cs typeface="IBM Plex Sans"/>
                          <a:sym typeface="IBM Plex Sans"/>
                        </a:rPr>
                        <a:t>We'll know it works when</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B7B6B3"/>
                      </a:solidFill>
                      <a:prstDash val="solid"/>
                      <a:round/>
                      <a:headEnd len="sm" w="sm" type="none"/>
                      <a:tailEnd len="sm" w="sm" type="none"/>
                    </a:lnL>
                    <a:lnR cap="flat" cmpd="sng" w="12700">
                      <a:solidFill>
                        <a:srgbClr val="B7B6B3"/>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B7B6B3"/>
                      </a:solidFill>
                      <a:prstDash val="solid"/>
                      <a:round/>
                      <a:headEnd len="sm" w="sm" type="none"/>
                      <a:tailEnd len="sm" w="sm" type="none"/>
                    </a:lnB>
                    <a:solidFill>
                      <a:srgbClr val="E5E4E0"/>
                    </a:solidFill>
                  </a:tcPr>
                </a:tc>
              </a:tr>
              <a:tr h="409500">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1. Get Nigerian signups into KYC. Start it at signup; list documents up front.</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7B6B3"/>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70% of Nigerian signups never start KYC</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7B6B3"/>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More start KYC within 14 days (28.5% ever start today)</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B7B6B3"/>
                      </a:solidFill>
                      <a:prstDash val="solid"/>
                      <a:round/>
                      <a:headEnd len="sm" w="sm" type="none"/>
                      <a:tailEnd len="sm" w="sm" type="none"/>
                    </a:lnT>
                    <a:lnB cap="flat" cmpd="sng" w="12700">
                      <a:solidFill>
                        <a:srgbClr val="C5C4C1"/>
                      </a:solidFill>
                      <a:prstDash val="solid"/>
                      <a:round/>
                      <a:headEnd len="sm" w="sm" type="none"/>
                      <a:tailEnd len="sm" w="sm" type="none"/>
                    </a:lnB>
                  </a:tcPr>
                </a:tc>
              </a:tr>
              <a:tr h="409500">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2. Use referrals to drive KYC. Pay the reward once the invitee passes KYC and makes a first transfer.</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Referred Nigerians start KYC at 76% and send 5.6× as often</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More referred signups pass KYC and send</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r h="569475">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3. Protect NGN→CAD tuition payments. Run targeted lifecycle campaigns for school-related senders; look after top senders.</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48% of value; 40% school-related</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c>
                  <a:txBody>
                    <a:bodyPr/>
                    <a:lstStyle/>
                    <a:p>
                      <a:pPr indent="0" lvl="0" marL="0" marR="0" rtl="0" algn="l">
                        <a:lnSpc>
                          <a:spcPct val="140000"/>
                        </a:lnSpc>
                        <a:spcBef>
                          <a:spcPts val="0"/>
                        </a:spcBef>
                        <a:spcAft>
                          <a:spcPts val="0"/>
                        </a:spcAft>
                        <a:buClr>
                          <a:srgbClr val="28292B"/>
                        </a:buClr>
                        <a:buSzPts val="900"/>
                        <a:buFont typeface="IBM Plex Sans"/>
                        <a:buNone/>
                      </a:pPr>
                      <a:r>
                        <a:rPr lang="en" sz="900" u="none" cap="none" strike="noStrike">
                          <a:solidFill>
                            <a:srgbClr val="28292B"/>
                          </a:solidFill>
                          <a:latin typeface="IBM Plex Sans"/>
                          <a:ea typeface="IBM Plex Sans"/>
                          <a:cs typeface="IBM Plex Sans"/>
                          <a:sym typeface="IBM Plex Sans"/>
                        </a:rPr>
                        <a:t>NGN→CAD value holds; top senders stay</a:t>
                      </a:r>
                      <a:endParaRPr sz="900" u="none" cap="none" strike="noStrike">
                        <a:latin typeface="IBM Plex Sans"/>
                        <a:ea typeface="IBM Plex Sans"/>
                        <a:cs typeface="IBM Plex Sans"/>
                        <a:sym typeface="IBM Plex Sans"/>
                      </a:endParaRPr>
                    </a:p>
                  </a:txBody>
                  <a:tcPr marT="40025" marB="40025" marR="40025" marL="40025">
                    <a:lnL cap="flat" cmpd="sng" w="12700">
                      <a:solidFill>
                        <a:srgbClr val="C5C4C1"/>
                      </a:solidFill>
                      <a:prstDash val="solid"/>
                      <a:round/>
                      <a:headEnd len="sm" w="sm" type="none"/>
                      <a:tailEnd len="sm" w="sm" type="none"/>
                    </a:lnL>
                    <a:lnR cap="flat" cmpd="sng" w="12700">
                      <a:solidFill>
                        <a:srgbClr val="C5C4C1"/>
                      </a:solidFill>
                      <a:prstDash val="solid"/>
                      <a:round/>
                      <a:headEnd len="sm" w="sm" type="none"/>
                      <a:tailEnd len="sm" w="sm" type="none"/>
                    </a:lnR>
                    <a:lnT cap="flat" cmpd="sng" w="12700">
                      <a:solidFill>
                        <a:srgbClr val="C5C4C1"/>
                      </a:solidFill>
                      <a:prstDash val="solid"/>
                      <a:round/>
                      <a:headEnd len="sm" w="sm" type="none"/>
                      <a:tailEnd len="sm" w="sm" type="none"/>
                    </a:lnT>
                    <a:lnB cap="flat" cmpd="sng" w="12700">
                      <a:solidFill>
                        <a:srgbClr val="C5C4C1"/>
                      </a:solidFill>
                      <a:prstDash val="solid"/>
                      <a:round/>
                      <a:headEnd len="sm" w="sm" type="none"/>
                      <a:tailEnd len="sm" w="sm" type="none"/>
                    </a:lnB>
                  </a:tcPr>
                </a:tc>
              </a:tr>
            </a:tbl>
          </a:graphicData>
        </a:graphic>
      </p:graphicFrame>
      <p:sp>
        <p:nvSpPr>
          <p:cNvPr id="280" name="Google Shape;280;p25"/>
          <p:cNvSpPr/>
          <p:nvPr/>
        </p:nvSpPr>
        <p:spPr>
          <a:xfrm>
            <a:off x="609600" y="4678710"/>
            <a:ext cx="63769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Actions 1–2 turn signups into senders; 3 protects value.</a:t>
            </a:r>
            <a:endParaRPr b="0" i="0" sz="900" u="none" cap="none" strike="noStrike">
              <a:solidFill>
                <a:schemeClr val="dk1"/>
              </a:solidFill>
              <a:latin typeface="Calibri"/>
              <a:ea typeface="Calibri"/>
              <a:cs typeface="Calibri"/>
              <a:sym typeface="Calibri"/>
            </a:endParaRPr>
          </a:p>
        </p:txBody>
      </p:sp>
      <p:pic>
        <p:nvPicPr>
          <p:cNvPr descr="SendFast logo" id="281" name="Google Shape;281;p25"/>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282" name="Google Shape;282;p25"/>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CEAE3"/>
        </a:solidFill>
      </p:bgPr>
    </p:bg>
    <p:spTree>
      <p:nvGrpSpPr>
        <p:cNvPr id="287" name="Shape 287"/>
        <p:cNvGrpSpPr/>
        <p:nvPr/>
      </p:nvGrpSpPr>
      <p:grpSpPr>
        <a:xfrm>
          <a:off x="0" y="0"/>
          <a:ext cx="0" cy="0"/>
          <a:chOff x="0" y="0"/>
          <a:chExt cx="0" cy="0"/>
        </a:xfrm>
      </p:grpSpPr>
      <p:sp>
        <p:nvSpPr>
          <p:cNvPr id="288" name="Google Shape;288;p26"/>
          <p:cNvSpPr/>
          <p:nvPr/>
        </p:nvSpPr>
        <p:spPr>
          <a:xfrm>
            <a:off x="609600" y="609600"/>
            <a:ext cx="8162544" cy="396217"/>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28292B"/>
              </a:buClr>
              <a:buSzPts val="2700"/>
              <a:buFont typeface="Space Grotesk"/>
              <a:buNone/>
            </a:pPr>
            <a:r>
              <a:rPr b="1" i="0" lang="en" sz="2700" u="none" cap="none" strike="noStrike">
                <a:solidFill>
                  <a:srgbClr val="28292B"/>
                </a:solidFill>
                <a:latin typeface="Space Grotesk"/>
                <a:ea typeface="Space Grotesk"/>
                <a:cs typeface="Space Grotesk"/>
                <a:sym typeface="Space Grotesk"/>
              </a:rPr>
              <a:t>What the data can and cannot tell us</a:t>
            </a:r>
            <a:endParaRPr b="0" i="0" sz="2700" u="none" cap="none" strike="noStrike">
              <a:solidFill>
                <a:schemeClr val="dk1"/>
              </a:solidFill>
              <a:latin typeface="Calibri"/>
              <a:ea typeface="Calibri"/>
              <a:cs typeface="Calibri"/>
              <a:sym typeface="Calibri"/>
            </a:endParaRPr>
          </a:p>
        </p:txBody>
      </p:sp>
      <p:sp>
        <p:nvSpPr>
          <p:cNvPr id="289" name="Google Shape;289;p26"/>
          <p:cNvSpPr/>
          <p:nvPr/>
        </p:nvSpPr>
        <p:spPr>
          <a:xfrm>
            <a:off x="611981" y="1217749"/>
            <a:ext cx="3881438" cy="1105756"/>
          </a:xfrm>
          <a:prstGeom prst="roundRect">
            <a:avLst>
              <a:gd fmla="val 6676"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0" name="Google Shape;290;p26"/>
          <p:cNvSpPr/>
          <p:nvPr/>
        </p:nvSpPr>
        <p:spPr>
          <a:xfrm>
            <a:off x="804863" y="1410630"/>
            <a:ext cx="3600545" cy="20192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The signup data is a slice</a:t>
            </a:r>
            <a:endParaRPr b="0" i="0" sz="1200" u="none" cap="none" strike="noStrike">
              <a:solidFill>
                <a:schemeClr val="dk1"/>
              </a:solidFill>
              <a:latin typeface="Calibri"/>
              <a:ea typeface="Calibri"/>
              <a:cs typeface="Calibri"/>
              <a:sym typeface="Calibri"/>
            </a:endParaRPr>
          </a:p>
        </p:txBody>
      </p:sp>
      <p:sp>
        <p:nvSpPr>
          <p:cNvPr id="291" name="Google Shape;291;p26"/>
          <p:cNvSpPr/>
          <p:nvPr/>
        </p:nvSpPr>
        <p:spPr>
          <a:xfrm>
            <a:off x="804863" y="1650653"/>
            <a:ext cx="3600545" cy="4990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It covers people who signed up Dec–Mar; 1,187 of the 16,444 senders are in it. Funnel and referral results describe these signups, not the whole base.</a:t>
            </a:r>
            <a:endParaRPr b="0" i="0" sz="900" u="none" cap="none" strike="noStrike">
              <a:solidFill>
                <a:schemeClr val="dk1"/>
              </a:solidFill>
              <a:latin typeface="Calibri"/>
              <a:ea typeface="Calibri"/>
              <a:cs typeface="Calibri"/>
              <a:sym typeface="Calibri"/>
            </a:endParaRPr>
          </a:p>
        </p:txBody>
      </p:sp>
      <p:sp>
        <p:nvSpPr>
          <p:cNvPr id="292" name="Google Shape;292;p26"/>
          <p:cNvSpPr/>
          <p:nvPr/>
        </p:nvSpPr>
        <p:spPr>
          <a:xfrm>
            <a:off x="4650581" y="1217749"/>
            <a:ext cx="3881438" cy="1105756"/>
          </a:xfrm>
          <a:prstGeom prst="roundRect">
            <a:avLst>
              <a:gd fmla="val 6676"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6"/>
          <p:cNvSpPr/>
          <p:nvPr/>
        </p:nvSpPr>
        <p:spPr>
          <a:xfrm>
            <a:off x="4843463" y="1410630"/>
            <a:ext cx="3600545" cy="201923"/>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The referral effect is an association</a:t>
            </a:r>
            <a:endParaRPr b="0" i="0" sz="1200" u="none" cap="none" strike="noStrike">
              <a:solidFill>
                <a:schemeClr val="dk1"/>
              </a:solidFill>
              <a:latin typeface="Calibri"/>
              <a:ea typeface="Calibri"/>
              <a:cs typeface="Calibri"/>
              <a:sym typeface="Calibri"/>
            </a:endParaRPr>
          </a:p>
        </p:txBody>
      </p:sp>
      <p:sp>
        <p:nvSpPr>
          <p:cNvPr id="294" name="Google Shape;294;p26"/>
          <p:cNvSpPr/>
          <p:nvPr/>
        </p:nvSpPr>
        <p:spPr>
          <a:xfrm>
            <a:off x="4843463" y="1650653"/>
            <a:ext cx="3600545" cy="49902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It rests on 307 referred Nigerian signups, and referred people may already be more motivated. A test of the reward change would confirm it.</a:t>
            </a:r>
            <a:endParaRPr b="0" i="0" sz="900" u="none" cap="none" strike="noStrike">
              <a:solidFill>
                <a:schemeClr val="dk1"/>
              </a:solidFill>
              <a:latin typeface="Calibri"/>
              <a:ea typeface="Calibri"/>
              <a:cs typeface="Calibri"/>
              <a:sym typeface="Calibri"/>
            </a:endParaRPr>
          </a:p>
        </p:txBody>
      </p:sp>
      <p:sp>
        <p:nvSpPr>
          <p:cNvPr id="295" name="Google Shape;295;p26"/>
          <p:cNvSpPr/>
          <p:nvPr/>
        </p:nvSpPr>
        <p:spPr>
          <a:xfrm>
            <a:off x="611981" y="2480667"/>
            <a:ext cx="3881438" cy="945766"/>
          </a:xfrm>
          <a:prstGeom prst="roundRect">
            <a:avLst>
              <a:gd fmla="val 7805"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26"/>
          <p:cNvSpPr/>
          <p:nvPr/>
        </p:nvSpPr>
        <p:spPr>
          <a:xfrm>
            <a:off x="804863" y="2673548"/>
            <a:ext cx="3600545" cy="20192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December is a single day</a:t>
            </a:r>
            <a:endParaRPr b="0" i="0" sz="1200" u="none" cap="none" strike="noStrike">
              <a:solidFill>
                <a:schemeClr val="dk1"/>
              </a:solidFill>
              <a:latin typeface="Calibri"/>
              <a:ea typeface="Calibri"/>
              <a:cs typeface="Calibri"/>
              <a:sym typeface="Calibri"/>
            </a:endParaRPr>
          </a:p>
        </p:txBody>
      </p:sp>
      <p:sp>
        <p:nvSpPr>
          <p:cNvPr id="297" name="Google Shape;297;p26"/>
          <p:cNvSpPr/>
          <p:nvPr/>
        </p:nvSpPr>
        <p:spPr>
          <a:xfrm>
            <a:off x="804863" y="2913571"/>
            <a:ext cx="3600545"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Transfers begin on 31 Dec. All monthly comparisons use January–March only, so one day is never compared with a full month.</a:t>
            </a:r>
            <a:endParaRPr b="0" i="0" sz="900" u="none" cap="none" strike="noStrike">
              <a:solidFill>
                <a:schemeClr val="dk1"/>
              </a:solidFill>
              <a:latin typeface="Calibri"/>
              <a:ea typeface="Calibri"/>
              <a:cs typeface="Calibri"/>
              <a:sym typeface="Calibri"/>
            </a:endParaRPr>
          </a:p>
        </p:txBody>
      </p:sp>
      <p:sp>
        <p:nvSpPr>
          <p:cNvPr id="298" name="Google Shape;298;p26"/>
          <p:cNvSpPr/>
          <p:nvPr/>
        </p:nvSpPr>
        <p:spPr>
          <a:xfrm>
            <a:off x="4650581" y="2480667"/>
            <a:ext cx="3881438" cy="945766"/>
          </a:xfrm>
          <a:prstGeom prst="roundRect">
            <a:avLst>
              <a:gd fmla="val 7805" name="adj"/>
            </a:avLst>
          </a:prstGeom>
          <a:solidFill>
            <a:srgbClr val="FFFDF8"/>
          </a:solidFill>
          <a:ln cap="flat" cmpd="sng" w="9525">
            <a:solidFill>
              <a:srgbClr val="DEDAD0"/>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9" name="Google Shape;299;p26"/>
          <p:cNvSpPr/>
          <p:nvPr/>
        </p:nvSpPr>
        <p:spPr>
          <a:xfrm>
            <a:off x="4843463" y="2673548"/>
            <a:ext cx="3600545" cy="201922"/>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8292B"/>
              </a:buClr>
              <a:buSzPts val="1200"/>
              <a:buFont typeface="IBM Plex Sans"/>
              <a:buNone/>
            </a:pPr>
            <a:r>
              <a:rPr b="1" i="0" lang="en" sz="1200" u="none" cap="none" strike="noStrike">
                <a:solidFill>
                  <a:srgbClr val="28292B"/>
                </a:solidFill>
                <a:latin typeface="IBM Plex Sans"/>
                <a:ea typeface="IBM Plex Sans"/>
                <a:cs typeface="IBM Plex Sans"/>
                <a:sym typeface="IBM Plex Sans"/>
              </a:rPr>
              <a:t>The FX link is a correlation</a:t>
            </a:r>
            <a:endParaRPr b="0" i="0" sz="1200" u="none" cap="none" strike="noStrike">
              <a:solidFill>
                <a:schemeClr val="dk1"/>
              </a:solidFill>
              <a:latin typeface="Calibri"/>
              <a:ea typeface="Calibri"/>
              <a:cs typeface="Calibri"/>
              <a:sym typeface="Calibri"/>
            </a:endParaRPr>
          </a:p>
        </p:txBody>
      </p:sp>
      <p:sp>
        <p:nvSpPr>
          <p:cNvPr id="300" name="Google Shape;300;p26"/>
          <p:cNvSpPr/>
          <p:nvPr/>
        </p:nvSpPr>
        <p:spPr>
          <a:xfrm>
            <a:off x="4843463" y="2913571"/>
            <a:ext cx="3600545" cy="33903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Three months show value falling as the naira weakened. Confirming the cause needs a longer history.</a:t>
            </a:r>
            <a:endParaRPr b="0" i="0" sz="900" u="none" cap="none" strike="noStrike">
              <a:solidFill>
                <a:schemeClr val="dk1"/>
              </a:solidFill>
              <a:latin typeface="Calibri"/>
              <a:ea typeface="Calibri"/>
              <a:cs typeface="Calibri"/>
              <a:sym typeface="Calibri"/>
            </a:endParaRPr>
          </a:p>
        </p:txBody>
      </p:sp>
      <p:sp>
        <p:nvSpPr>
          <p:cNvPr id="301" name="Google Shape;301;p26"/>
          <p:cNvSpPr/>
          <p:nvPr/>
        </p:nvSpPr>
        <p:spPr>
          <a:xfrm>
            <a:off x="609600" y="4678710"/>
            <a:ext cx="6376988" cy="1790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Full method and queries: SendFast Analysis notebook</a:t>
            </a:r>
            <a:endParaRPr b="0" i="0" sz="900" u="none" cap="none" strike="noStrike">
              <a:solidFill>
                <a:schemeClr val="dk1"/>
              </a:solidFill>
              <a:latin typeface="Calibri"/>
              <a:ea typeface="Calibri"/>
              <a:cs typeface="Calibri"/>
              <a:sym typeface="Calibri"/>
            </a:endParaRPr>
          </a:p>
        </p:txBody>
      </p:sp>
      <p:pic>
        <p:nvPicPr>
          <p:cNvPr descr="SendFast logo" id="302" name="Google Shape;302;p26"/>
          <p:cNvPicPr preferRelativeResize="0"/>
          <p:nvPr/>
        </p:nvPicPr>
        <p:blipFill rotWithShape="1">
          <a:blip r:embed="rId3">
            <a:alphaModFix/>
          </a:blip>
          <a:srcRect b="-34" l="0" r="0" t="-34"/>
          <a:stretch/>
        </p:blipFill>
        <p:spPr>
          <a:xfrm>
            <a:off x="7000875" y="4705350"/>
            <a:ext cx="1038225" cy="152400"/>
          </a:xfrm>
          <a:prstGeom prst="rect">
            <a:avLst/>
          </a:prstGeom>
          <a:noFill/>
          <a:ln>
            <a:noFill/>
          </a:ln>
        </p:spPr>
      </p:pic>
      <p:sp>
        <p:nvSpPr>
          <p:cNvPr id="303" name="Google Shape;303;p26"/>
          <p:cNvSpPr/>
          <p:nvPr/>
        </p:nvSpPr>
        <p:spPr>
          <a:xfrm>
            <a:off x="8115300" y="4678710"/>
            <a:ext cx="419100" cy="179040"/>
          </a:xfrm>
          <a:prstGeom prst="rect">
            <a:avLst/>
          </a:prstGeom>
          <a:noFill/>
          <a:ln>
            <a:noFill/>
          </a:ln>
        </p:spPr>
        <p:txBody>
          <a:bodyPr anchorCtr="0" anchor="t" bIns="0" lIns="0" spcFirstLastPara="1" rIns="0" wrap="square" tIns="0">
            <a:noAutofit/>
          </a:bodyPr>
          <a:lstStyle/>
          <a:p>
            <a:pPr indent="0" lvl="0" marL="0" marR="0" rtl="0" algn="r">
              <a:lnSpc>
                <a:spcPct val="140000"/>
              </a:lnSpc>
              <a:spcBef>
                <a:spcPts val="0"/>
              </a:spcBef>
              <a:spcAft>
                <a:spcPts val="0"/>
              </a:spcAft>
              <a:buClr>
                <a:srgbClr val="434C54"/>
              </a:buClr>
              <a:buSzPts val="900"/>
              <a:buFont typeface="IBM Plex Sans"/>
              <a:buNone/>
            </a:pPr>
            <a:r>
              <a:rPr b="0" i="0" lang="en" sz="900" u="none" cap="none" strike="noStrike">
                <a:solidFill>
                  <a:srgbClr val="434C54"/>
                </a:solidFill>
                <a:latin typeface="IBM Plex Sans"/>
                <a:ea typeface="IBM Plex Sans"/>
                <a:cs typeface="IBM Plex Sans"/>
                <a:sym typeface="IBM Plex Sans"/>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